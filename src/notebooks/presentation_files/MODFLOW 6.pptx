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4" r:id="rId2"/>
  </p:sldMasterIdLst>
  <p:notesMasterIdLst>
    <p:notesMasterId r:id="rId11"/>
  </p:notesMasterIdLst>
  <p:sldIdLst>
    <p:sldId id="274" r:id="rId3"/>
    <p:sldId id="264" r:id="rId4"/>
    <p:sldId id="275" r:id="rId5"/>
    <p:sldId id="279" r:id="rId6"/>
    <p:sldId id="280" r:id="rId7"/>
    <p:sldId id="281" r:id="rId8"/>
    <p:sldId id="282" r:id="rId9"/>
    <p:sldId id="283" r:id="rId10"/>
  </p:sldIdLst>
  <p:sldSz cx="12192000" cy="6858000"/>
  <p:notesSz cx="7010400" cy="9296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11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7D"/>
    <a:srgbClr val="0069B4"/>
    <a:srgbClr val="8AAD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11" autoAdjust="0"/>
    <p:restoredTop sz="94464" autoAdjust="0"/>
  </p:normalViewPr>
  <p:slideViewPr>
    <p:cSldViewPr snapToGrid="0" showGuides="1">
      <p:cViewPr varScale="1">
        <p:scale>
          <a:sx n="72" d="100"/>
          <a:sy n="72" d="100"/>
        </p:scale>
        <p:origin x="784" y="60"/>
      </p:cViewPr>
      <p:guideLst>
        <p:guide orient="horz" pos="3407"/>
        <p:guide pos="3840"/>
        <p:guide orient="horz" pos="686"/>
        <p:guide pos="438"/>
        <p:guide orient="horz" pos="11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167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9A2D55D-E9BC-4C36-B72D-B1213935B848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9146D6B-7675-4AF9-A4D9-D66329B706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632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1 Bild + + weisses Logo + weisse Schrift">
    <p:bg>
      <p:bgPr>
        <a:blipFill dpi="0" rotWithShape="1">
          <a:blip r:embed="rId2">
            <a:lum/>
          </a:blip>
          <a:srcRect/>
          <a:stretch>
            <a:fillRect t="-76000" b="-7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B8C8C45B-0590-C7B4-4504-AF5F749CE6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3595" y="1979827"/>
            <a:ext cx="10397085" cy="2468557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MODFLOW 6 </a:t>
            </a:r>
            <a:r>
              <a:rPr lang="de-DE" dirty="0" err="1"/>
              <a:t>LaB</a:t>
            </a:r>
            <a:r>
              <a:rPr lang="de-DE" dirty="0"/>
              <a:t>:</a:t>
            </a:r>
            <a:br>
              <a:rPr lang="de-DE" dirty="0"/>
            </a:br>
            <a:r>
              <a:rPr lang="en-US" dirty="0"/>
              <a:t>Customizing for Flow, Transport and Geothermal Modeling</a:t>
            </a:r>
            <a:endParaRPr lang="de-DE" dirty="0"/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98AFF68E-B822-4231-A61A-A6F10FDB7A1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3528"/>
            <a:ext cx="0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32FF86D9-8154-4E9E-A5D0-32E129D68D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34" y="180295"/>
            <a:ext cx="2553192" cy="900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36A7490-614D-4DB0-B28F-FD0C02C55E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775" y="9422"/>
            <a:ext cx="4112926" cy="112270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0BA2278-0D90-4E55-A9D0-9A49C492E36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615" y="0"/>
            <a:ext cx="2400385" cy="240961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33B95B5-2049-4CBA-BDED-8E77F799210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395" y="0"/>
            <a:ext cx="2636520" cy="145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32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-2 mit Bild + blaues Logo + blaue Schri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rgbClr val="004A7D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917FADB-6BCB-450A-89B0-2C9D482F34B8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2067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E2007EF2-C88C-4602-ADA3-D266EED92C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E73D177-EA2B-44F5-972E-C043D46D38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9" y="425778"/>
            <a:ext cx="2553191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05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-3 ohne Bild + blaues Logo + blaue 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rgbClr val="004A7D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BCEB8B-FF8D-4182-8AE2-CA42666339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C6CDA09-FD82-4784-BE64-14B010A06B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9" y="425778"/>
            <a:ext cx="2553191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47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-1 blauer Hintergrund + weiße Schrift">
    <p:bg>
      <p:bgPr>
        <a:solidFill>
          <a:srgbClr val="0069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BCEB8B-FF8D-4182-8AE2-CA42666339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43996F6-A485-4260-8386-933AE275BD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2" y="481004"/>
            <a:ext cx="2553192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8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-1 blau + Icons">
    <p:bg>
      <p:bgPr>
        <a:solidFill>
          <a:srgbClr val="0069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583E0077-0AE8-48B5-8E4F-027A4B652AE8}"/>
              </a:ext>
            </a:extLst>
          </p:cNvPr>
          <p:cNvGrpSpPr/>
          <p:nvPr userDrawn="1"/>
        </p:nvGrpSpPr>
        <p:grpSpPr>
          <a:xfrm>
            <a:off x="9673721" y="5081290"/>
            <a:ext cx="432000" cy="432000"/>
            <a:chOff x="9516982" y="5081290"/>
            <a:chExt cx="432000" cy="432000"/>
          </a:xfrm>
        </p:grpSpPr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EEC3FBFF-71A4-42EA-8322-21EB52F4B3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9935" y="5176625"/>
              <a:ext cx="292347" cy="252084"/>
            </a:xfrm>
            <a:prstGeom prst="rect">
              <a:avLst/>
            </a:prstGeom>
          </p:spPr>
        </p:pic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4F78127D-463F-4947-B99E-9D60C44CE15B}"/>
                </a:ext>
              </a:extLst>
            </p:cNvPr>
            <p:cNvSpPr/>
            <p:nvPr userDrawn="1"/>
          </p:nvSpPr>
          <p:spPr>
            <a:xfrm>
              <a:off x="9516982" y="508129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45AEEB15-1D39-4ECC-A513-2E00D5DDBE05}"/>
              </a:ext>
            </a:extLst>
          </p:cNvPr>
          <p:cNvGrpSpPr/>
          <p:nvPr userDrawn="1"/>
        </p:nvGrpSpPr>
        <p:grpSpPr>
          <a:xfrm>
            <a:off x="8965837" y="5078474"/>
            <a:ext cx="432000" cy="432000"/>
            <a:chOff x="8564213" y="5044394"/>
            <a:chExt cx="432000" cy="432000"/>
          </a:xfrm>
        </p:grpSpPr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62759C13-50BB-421B-A581-6C180AC0D4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7653" y="5117364"/>
              <a:ext cx="292797" cy="277285"/>
            </a:xfrm>
            <a:prstGeom prst="rect">
              <a:avLst/>
            </a:prstGeom>
          </p:spPr>
        </p:pic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1AA7C656-8418-450C-ABE9-907CB626EFD5}"/>
                </a:ext>
              </a:extLst>
            </p:cNvPr>
            <p:cNvSpPr/>
            <p:nvPr userDrawn="1"/>
          </p:nvSpPr>
          <p:spPr>
            <a:xfrm>
              <a:off x="8564213" y="5044394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68D96637-D1E8-4D61-88A5-F0F36C3A159B}"/>
              </a:ext>
            </a:extLst>
          </p:cNvPr>
          <p:cNvGrpSpPr/>
          <p:nvPr userDrawn="1"/>
        </p:nvGrpSpPr>
        <p:grpSpPr>
          <a:xfrm>
            <a:off x="7560298" y="5098356"/>
            <a:ext cx="432000" cy="432000"/>
            <a:chOff x="6598847" y="5081290"/>
            <a:chExt cx="432000" cy="432000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49F96395-762E-40DD-9412-A225E9F133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4317" y="5165084"/>
              <a:ext cx="296078" cy="264412"/>
            </a:xfrm>
            <a:prstGeom prst="rect">
              <a:avLst/>
            </a:prstGeom>
          </p:spPr>
        </p:pic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DEFA5F46-33B7-42CA-8C06-2E32641EA02B}"/>
                </a:ext>
              </a:extLst>
            </p:cNvPr>
            <p:cNvSpPr/>
            <p:nvPr userDrawn="1"/>
          </p:nvSpPr>
          <p:spPr>
            <a:xfrm>
              <a:off x="6598847" y="508129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29D21C79-0430-40D7-BA3E-6D4A54200C3F}"/>
              </a:ext>
            </a:extLst>
          </p:cNvPr>
          <p:cNvGrpSpPr/>
          <p:nvPr userDrawn="1"/>
        </p:nvGrpSpPr>
        <p:grpSpPr>
          <a:xfrm>
            <a:off x="11259139" y="5094670"/>
            <a:ext cx="432000" cy="432000"/>
            <a:chOff x="11259139" y="5094670"/>
            <a:chExt cx="432000" cy="432000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EB630743-9051-432B-8AE2-F9D47139FE4F}"/>
                </a:ext>
              </a:extLst>
            </p:cNvPr>
            <p:cNvSpPr/>
            <p:nvPr userDrawn="1"/>
          </p:nvSpPr>
          <p:spPr>
            <a:xfrm>
              <a:off x="11259139" y="509467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6E6C795-E7C0-4BB7-8985-B5987F7C3F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58450" y="5194314"/>
              <a:ext cx="263562" cy="217051"/>
            </a:xfrm>
            <a:prstGeom prst="rect">
              <a:avLst/>
            </a:prstGeom>
          </p:spPr>
        </p:pic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A7D2CCDB-AF54-4F8B-BFE1-0B1F2B1BD5F3}"/>
              </a:ext>
            </a:extLst>
          </p:cNvPr>
          <p:cNvGrpSpPr/>
          <p:nvPr userDrawn="1"/>
        </p:nvGrpSpPr>
        <p:grpSpPr>
          <a:xfrm>
            <a:off x="10461699" y="5089954"/>
            <a:ext cx="432000" cy="432000"/>
            <a:chOff x="10449843" y="5081290"/>
            <a:chExt cx="432000" cy="432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C401D773-6F03-45B5-9556-D3E321F739D4}"/>
                </a:ext>
              </a:extLst>
            </p:cNvPr>
            <p:cNvSpPr/>
            <p:nvPr userDrawn="1"/>
          </p:nvSpPr>
          <p:spPr>
            <a:xfrm>
              <a:off x="10449843" y="508129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D74B0388-CD11-4699-94F7-8392D6DCB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6707" y="5142565"/>
              <a:ext cx="312463" cy="295687"/>
            </a:xfrm>
            <a:prstGeom prst="rect">
              <a:avLst/>
            </a:prstGeom>
          </p:spPr>
        </p:pic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943B6950-136B-4BCA-9BDA-16A26FD96E88}"/>
              </a:ext>
            </a:extLst>
          </p:cNvPr>
          <p:cNvGrpSpPr/>
          <p:nvPr userDrawn="1"/>
        </p:nvGrpSpPr>
        <p:grpSpPr>
          <a:xfrm>
            <a:off x="8268182" y="5073703"/>
            <a:ext cx="432000" cy="432000"/>
            <a:chOff x="7543733" y="5051282"/>
            <a:chExt cx="432000" cy="432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A3AA7F0-306C-4A59-80B2-A1E7D521EC2A}"/>
                </a:ext>
              </a:extLst>
            </p:cNvPr>
            <p:cNvSpPr/>
            <p:nvPr userDrawn="1"/>
          </p:nvSpPr>
          <p:spPr>
            <a:xfrm>
              <a:off x="7543733" y="5051282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03867C0E-CAE7-4CF8-83FB-798B2DC769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6369" y="5146629"/>
              <a:ext cx="251497" cy="256925"/>
            </a:xfrm>
            <a:prstGeom prst="rect">
              <a:avLst/>
            </a:prstGeom>
          </p:spPr>
        </p:pic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45AD00A7-7086-4B2F-909E-5F535405A07B}"/>
              </a:ext>
            </a:extLst>
          </p:cNvPr>
          <p:cNvGrpSpPr/>
          <p:nvPr userDrawn="1"/>
        </p:nvGrpSpPr>
        <p:grpSpPr>
          <a:xfrm>
            <a:off x="6823537" y="5098356"/>
            <a:ext cx="432000" cy="432000"/>
            <a:chOff x="5562718" y="5092454"/>
            <a:chExt cx="432000" cy="432000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A350356D-ABA3-4A05-95F7-09DABEC916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4055" y="5117364"/>
              <a:ext cx="225337" cy="343476"/>
            </a:xfrm>
            <a:prstGeom prst="rect">
              <a:avLst/>
            </a:prstGeom>
          </p:spPr>
        </p:pic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342267B0-FDDE-41EA-B744-8004DAC1585B}"/>
                </a:ext>
              </a:extLst>
            </p:cNvPr>
            <p:cNvSpPr/>
            <p:nvPr userDrawn="1"/>
          </p:nvSpPr>
          <p:spPr>
            <a:xfrm>
              <a:off x="5562718" y="5092454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C052F5FA-631B-44F5-88A3-3D6FBC02852A}"/>
              </a:ext>
            </a:extLst>
          </p:cNvPr>
          <p:cNvGrpSpPr/>
          <p:nvPr userDrawn="1"/>
        </p:nvGrpSpPr>
        <p:grpSpPr>
          <a:xfrm>
            <a:off x="6128336" y="5078474"/>
            <a:ext cx="432000" cy="432000"/>
            <a:chOff x="4526589" y="5092454"/>
            <a:chExt cx="432000" cy="432000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54F7FBBA-ACD3-4AEA-B3D7-9C56888BD8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0206" y="5117364"/>
              <a:ext cx="256024" cy="341366"/>
            </a:xfrm>
            <a:prstGeom prst="rect">
              <a:avLst/>
            </a:prstGeom>
          </p:spPr>
        </p:pic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AE856498-EEBD-4589-B68B-B3D5DCB8FB09}"/>
                </a:ext>
              </a:extLst>
            </p:cNvPr>
            <p:cNvSpPr/>
            <p:nvPr userDrawn="1"/>
          </p:nvSpPr>
          <p:spPr>
            <a:xfrm>
              <a:off x="4526589" y="5092454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046B783-5707-4830-9073-6922B92E88CD}"/>
              </a:ext>
            </a:extLst>
          </p:cNvPr>
          <p:cNvGrpSpPr/>
          <p:nvPr userDrawn="1"/>
        </p:nvGrpSpPr>
        <p:grpSpPr>
          <a:xfrm>
            <a:off x="5393991" y="5056241"/>
            <a:ext cx="432000" cy="416379"/>
            <a:chOff x="3387513" y="5066903"/>
            <a:chExt cx="432000" cy="416379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23D39FF9-D898-41C6-BF66-9272BAAFF6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2856" y="5176626"/>
              <a:ext cx="394622" cy="219518"/>
            </a:xfrm>
            <a:prstGeom prst="rect">
              <a:avLst/>
            </a:prstGeom>
          </p:spPr>
        </p:pic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B09CBD2B-07EF-40E9-BA81-7E41E3539AD4}"/>
                </a:ext>
              </a:extLst>
            </p:cNvPr>
            <p:cNvSpPr/>
            <p:nvPr userDrawn="1"/>
          </p:nvSpPr>
          <p:spPr>
            <a:xfrm>
              <a:off x="3387513" y="5066903"/>
              <a:ext cx="432000" cy="41637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7BCDA5C9-D775-4C78-AC67-48F594F02886}"/>
              </a:ext>
            </a:extLst>
          </p:cNvPr>
          <p:cNvGrpSpPr/>
          <p:nvPr userDrawn="1"/>
        </p:nvGrpSpPr>
        <p:grpSpPr>
          <a:xfrm>
            <a:off x="4646060" y="5073703"/>
            <a:ext cx="432000" cy="432000"/>
            <a:chOff x="2369927" y="5073703"/>
            <a:chExt cx="432000" cy="432000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0D5B301C-3CB6-4A89-965E-A5F0B8328D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9656" y="5142565"/>
              <a:ext cx="325349" cy="303819"/>
            </a:xfrm>
            <a:prstGeom prst="rect">
              <a:avLst/>
            </a:prstGeom>
          </p:spPr>
        </p:pic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D418CAD-C939-47D2-A48A-53BCC40AC89E}"/>
                </a:ext>
              </a:extLst>
            </p:cNvPr>
            <p:cNvSpPr/>
            <p:nvPr userDrawn="1"/>
          </p:nvSpPr>
          <p:spPr>
            <a:xfrm>
              <a:off x="2369927" y="5073703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1" name="Textfeld 50">
            <a:extLst>
              <a:ext uri="{FF2B5EF4-FFF2-40B4-BE49-F238E27FC236}">
                <a16:creationId xmlns:a16="http://schemas.microsoft.com/office/drawing/2014/main" id="{B9AAF393-1DAC-46EB-9E98-30D8A7DD3E49}"/>
              </a:ext>
            </a:extLst>
          </p:cNvPr>
          <p:cNvSpPr txBox="1"/>
          <p:nvPr userDrawn="1"/>
        </p:nvSpPr>
        <p:spPr>
          <a:xfrm>
            <a:off x="10005717" y="5740402"/>
            <a:ext cx="1899223" cy="432000"/>
          </a:xfrm>
          <a:prstGeom prst="rect">
            <a:avLst/>
          </a:prstGeom>
        </p:spPr>
        <p:txBody>
          <a:bodyPr wrap="square" lIns="0" rIns="0" rtlCol="0" anchor="t">
            <a:noAutofit/>
          </a:bodyPr>
          <a:lstStyle/>
          <a:p>
            <a:pPr algn="l"/>
            <a:r>
              <a:rPr lang="de-DE" sz="3600" b="1" i="0" dirty="0">
                <a:solidFill>
                  <a:srgbClr val="004A7D">
                    <a:alpha val="50000"/>
                  </a:srgbClr>
                </a:solidFill>
                <a:latin typeface="Spartan ExtraBold" pitchFamily="2" charset="77"/>
              </a:rPr>
              <a:t>‚</a:t>
            </a:r>
            <a:r>
              <a:rPr lang="de-DE" sz="3600" b="1" i="0" dirty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de-DE" sz="3600" b="1" i="0" dirty="0" err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tubaf</a:t>
            </a:r>
            <a:endParaRPr lang="de-DE" sz="3600" b="1" i="0" dirty="0">
              <a:solidFill>
                <a:schemeClr val="bg1">
                  <a:alpha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platzhalter 4">
            <a:extLst>
              <a:ext uri="{FF2B5EF4-FFF2-40B4-BE49-F238E27FC236}">
                <a16:creationId xmlns:a16="http://schemas.microsoft.com/office/drawing/2014/main" id="{4A9A1807-AFB9-4E04-A7FF-787577FDF0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87783C0B-0A44-4ADF-8B1C-7ACC3A3AFD9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2" y="481004"/>
            <a:ext cx="2553192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0C982A6E-B854-614E-80C2-782A66419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083" y="1968104"/>
            <a:ext cx="10976598" cy="1611917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000" b="1" i="0" cap="all" spc="0" baseline="0">
                <a:solidFill>
                  <a:srgbClr val="004A7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F72706C7-B025-2E4B-99F6-271DCFCCB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083" y="3800669"/>
            <a:ext cx="10976597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129EC27-6B75-5683-899C-CEE80C23EAA2}"/>
              </a:ext>
            </a:extLst>
          </p:cNvPr>
          <p:cNvSpPr txBox="1"/>
          <p:nvPr userDrawn="1"/>
        </p:nvSpPr>
        <p:spPr>
          <a:xfrm>
            <a:off x="7208613" y="5508839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277986-215E-49C4-1E98-21F190856D43}"/>
              </a:ext>
            </a:extLst>
          </p:cNvPr>
          <p:cNvSpPr txBox="1"/>
          <p:nvPr userDrawn="1"/>
        </p:nvSpPr>
        <p:spPr>
          <a:xfrm>
            <a:off x="1371600" y="6350696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8C6C8CF-289E-4065-8200-243CFD8151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993" y="5557623"/>
            <a:ext cx="2836687" cy="99993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1C6DCE5-3D9C-421A-939A-27205B0FA3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0" y="5557623"/>
            <a:ext cx="4115025" cy="112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66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itel + Text / Tabelle, Bild,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7592B3-D4DC-E24F-AA1C-2A05D60DD6C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48145" y="1721708"/>
            <a:ext cx="10982536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DE3F634-B07A-6F47-9151-9C187E08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923058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3A5DB9-A55B-BE5A-9FC1-A325D770964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DE80AFF6-A21C-4601-A053-9C90FA6D0F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C4482D1-19C7-4AC5-B635-39C11ACD01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446" y="5768866"/>
            <a:ext cx="3051157" cy="83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03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-spaltig +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60BD8C6-7AB3-C64F-8C75-0984F7FD809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48145" y="1721708"/>
            <a:ext cx="5259227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742950" indent="-2857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200150" indent="-2857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57350" indent="-2857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00250" indent="-1714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64349417-2101-9E4F-957C-40EE9DC94B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71454" y="1721708"/>
            <a:ext cx="5259227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BCAE72CF-FE3E-B44F-A41E-BFF4769C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923058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075F259-99BF-4C50-9E46-31C4F7432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09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2-spaltig +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64349417-2101-9E4F-957C-40EE9DC94B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71454" y="1721708"/>
            <a:ext cx="5259227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BCAE72CF-FE3E-B44F-A41E-BFF4769C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923058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075F259-99BF-4C50-9E46-31C4F7432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  <p:sp>
        <p:nvSpPr>
          <p:cNvPr id="5" name="Bildplatzhalter 4">
            <a:extLst>
              <a:ext uri="{FF2B5EF4-FFF2-40B4-BE49-F238E27FC236}">
                <a16:creationId xmlns:a16="http://schemas.microsoft.com/office/drawing/2014/main" id="{2A669086-AB04-433D-8246-097847C001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713" y="1722438"/>
            <a:ext cx="5259600" cy="421322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753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5244DFFF-5FDB-2845-9FB3-C504544BB0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54083" y="864231"/>
            <a:ext cx="10976598" cy="5070711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4C9F8A9-5AB5-4842-BB95-529AC4EA5F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5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EC617361-E60C-DE46-BBF4-073B94746F1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471453" y="864231"/>
            <a:ext cx="5259227" cy="5070711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400A0BB4-9691-2743-8231-5FFC854F1A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3301" y="864231"/>
            <a:ext cx="5259227" cy="5070711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347E6EF-B4E5-4DDA-968D-99208E642B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07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/Fil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enplatzhalter 4">
            <a:extLst>
              <a:ext uri="{FF2B5EF4-FFF2-40B4-BE49-F238E27FC236}">
                <a16:creationId xmlns:a16="http://schemas.microsoft.com/office/drawing/2014/main" id="{20FE898B-58F2-9142-9ED3-EEBBA769A76A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748145" y="841376"/>
            <a:ext cx="10982536" cy="4959918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</a:lstStyle>
          <a:p>
            <a:r>
              <a:rPr lang="de-DE" dirty="0"/>
              <a:t>Video einfügen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71910D-ECEC-4A3C-9A03-94C8E8573B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5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3E4BC42F-D558-FF41-B4B9-7A075C25C7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4083" y="1704822"/>
            <a:ext cx="10976598" cy="4230841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B7933CBF-A719-B444-8AF5-04F23B2A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83" y="923058"/>
            <a:ext cx="10976598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F955895-DF91-402F-A1C6-9F93D058C4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2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B7933CBF-A719-B444-8AF5-04F23B2A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83" y="923058"/>
            <a:ext cx="10976598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iagrammplatzhalter 2">
            <a:extLst>
              <a:ext uri="{FF2B5EF4-FFF2-40B4-BE49-F238E27FC236}">
                <a16:creationId xmlns:a16="http://schemas.microsoft.com/office/drawing/2014/main" id="{2483862F-6D91-964D-BE35-72549DABF132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753301" y="1712981"/>
            <a:ext cx="5259227" cy="4230688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Diagramm einfügen</a:t>
            </a:r>
          </a:p>
        </p:txBody>
      </p:sp>
      <p:sp>
        <p:nvSpPr>
          <p:cNvPr id="12" name="Diagrammplatzhalter 2">
            <a:extLst>
              <a:ext uri="{FF2B5EF4-FFF2-40B4-BE49-F238E27FC236}">
                <a16:creationId xmlns:a16="http://schemas.microsoft.com/office/drawing/2014/main" id="{3EB6AEF6-6159-9C47-894F-6BB8454DB9E2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475787" y="1712981"/>
            <a:ext cx="5259227" cy="4230688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Diagramm einfügen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FFF3079-8DB1-4D0B-8387-B90D15955C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28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B7933CBF-A719-B444-8AF5-04F23B2A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83" y="923058"/>
            <a:ext cx="10976598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abellenplatzhalter 3">
            <a:extLst>
              <a:ext uri="{FF2B5EF4-FFF2-40B4-BE49-F238E27FC236}">
                <a16:creationId xmlns:a16="http://schemas.microsoft.com/office/drawing/2014/main" id="{42393A5D-B8CA-DB43-A5C3-B61EB6BE6DAB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754084" y="1704975"/>
            <a:ext cx="10976598" cy="4230688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Tabelle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987F0D6-09CA-44AC-9FEB-328BCDDDF2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D2204-6A6A-4F63-AB83-4B0459695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55BC79-06C1-45EA-B8C3-ADFD42435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00325F-6B02-4872-8A16-CF14004F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7375AA-C23B-47A5-BC74-237E6A1A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8580F-287C-49F9-BD7D-BB6148F8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119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140638-E5B3-4EE1-9702-3CDD2609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6FF481-3648-4790-9906-65793FF6C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C6632B-C0E5-4576-996F-5616E1752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2B462B-8268-44F8-9F39-830AF38BB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6021B3-5931-48B9-9698-5F56C2F6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849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D67141-52C6-418D-9FA7-45D487CB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87DB73-D890-42FA-8428-70F1503EC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9A9D83-42DF-4BE9-8B2C-660DCA61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B5ECC6-CD4F-4F3C-A71E-DF9B5269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CF9415-DD00-4FC6-B21D-DA838EBB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7411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0D3B5-D65B-4F4E-A9DB-AB7723B8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E5F22B-FF28-4EE7-B060-5B60F923E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CAAB5F-32E3-4D8E-AF2C-88E15B9BB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EA1A84-2162-4408-A1AD-EF3E5E8A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F2433A-85A6-40F0-9DD6-315BEA9A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4E3FBB-1240-4D5E-BA06-5643C8F9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8515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C1CF47-0878-4E4B-8FB4-78A68935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0D7154-A801-43F6-B212-F0FB80C96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24309F-7D61-41C8-9295-05F4D5457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F3C5B31-0D4B-4D72-86D7-6461ABC1B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63CFA69-EC6A-45C1-B5E1-DBA346442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130AA0B-3916-4B7F-8DF7-3280C01E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18EE690-42C3-41E1-A8A7-CD77ECFB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244F11-605D-4863-8847-48F73232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49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61887-351E-4C7A-B998-F03E2AB1B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55B0C90-7AB7-4246-9B91-7337AAD7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714DAD-A55F-42DC-B2F9-9E75E4D3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4B0372-AF04-4E0C-B5F9-33931F80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8767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F4E28C-1662-48BD-B46D-7E84E9EB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B8F9A3-F44B-448B-851E-23BC044B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B78A9F-0B70-4ED1-A4E2-7C700725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08479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463C1-92FB-477D-B023-1693DB14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4C75AD-44F1-4D0B-8D87-D38E12394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B61AEE-67D5-4B8B-A986-7ABF3FC83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190E4A-1592-4BD1-BD06-61EAF27B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8F9CFF-038B-4D4D-BBB1-F53895F8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03A69A-E474-4CED-B5E5-57790C6F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71086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BCE070-69C9-4903-B423-03D87F344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7310B2F-1B99-4299-B358-402F7E89B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ED2747-C868-4CC0-B345-CF1A281A6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FAD9CC-0DD9-424C-A430-0B7FE763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08DC81-F0CD-427D-884B-99F9E4C9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0A458B-7B9B-4496-9C78-84119193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555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7CCB8C-7BA3-4774-A73D-246093D5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D91972-0E1B-4EA3-990E-5556F5D32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6DEE1E-9555-4208-AD73-D6EDD1EA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18E8FF-F0CD-4B25-96C3-77F8C9EA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1AF49E-C00E-4779-8B8B-9B4A1054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73889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9E17E0C-951F-44A9-A3BE-3DA659925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B66F5A-BF58-4880-B8A9-BA53C2C7C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2A09A3-CE37-436C-B57E-795FB5DAD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7C9949-8B9E-410D-BC63-3BBD428C6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203B3B-C691-4E74-9B12-858F93EE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999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0795399-D346-434E-8D09-D3DD7BBC359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04877"/>
            <a:ext cx="12192000" cy="2053123"/>
          </a:xfrm>
          <a:prstGeom prst="rect">
            <a:avLst/>
          </a:prstGeom>
        </p:spPr>
      </p:pic>
      <p:cxnSp>
        <p:nvCxnSpPr>
          <p:cNvPr id="3" name="Gerade Verbindung 3">
            <a:extLst>
              <a:ext uri="{FF2B5EF4-FFF2-40B4-BE49-F238E27FC236}">
                <a16:creationId xmlns:a16="http://schemas.microsoft.com/office/drawing/2014/main" id="{2495EACA-308F-418C-B9EA-94945FBC3B2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5FD97FBB-86D5-40D9-B3EC-5398F9E11FEC}"/>
              </a:ext>
            </a:extLst>
          </p:cNvPr>
          <p:cNvSpPr txBox="1">
            <a:spLocks/>
          </p:cNvSpPr>
          <p:nvPr userDrawn="1"/>
        </p:nvSpPr>
        <p:spPr>
          <a:xfrm>
            <a:off x="194239" y="6274750"/>
            <a:ext cx="494764" cy="365125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1FBD69-6E57-4E10-B6F4-1F4D658D73AC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77748-C6C4-4817-BE47-EAF1BEA38A72}"/>
              </a:ext>
            </a:extLst>
          </p:cNvPr>
          <p:cNvSpPr txBox="1">
            <a:spLocks/>
          </p:cNvSpPr>
          <p:nvPr userDrawn="1"/>
        </p:nvSpPr>
        <p:spPr>
          <a:xfrm>
            <a:off x="902677" y="6223950"/>
            <a:ext cx="6864875" cy="533387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l" defTabSz="914400" rtl="0" eaLnBrk="1" latinLnBrk="0" hangingPunct="1">
              <a:lnSpc>
                <a:spcPct val="150000"/>
              </a:lnSpc>
              <a:defRPr sz="1000" b="0" i="0" kern="1200" spc="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+mn-lt"/>
              </a:rPr>
              <a:t>Dr. Mike Müller </a:t>
            </a:r>
          </a:p>
          <a:p>
            <a:r>
              <a:rPr lang="de-DE" dirty="0" err="1">
                <a:latin typeface="+mn-lt"/>
              </a:rPr>
              <a:t>Lúcia</a:t>
            </a:r>
            <a:r>
              <a:rPr lang="de-DE" dirty="0">
                <a:latin typeface="+mn-lt"/>
              </a:rPr>
              <a:t> Pedrosa </a:t>
            </a:r>
          </a:p>
          <a:p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539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69" r:id="rId3"/>
    <p:sldLayoutId id="2147483691" r:id="rId4"/>
    <p:sldLayoutId id="2147483692" r:id="rId5"/>
    <p:sldLayoutId id="2147483649" r:id="rId6"/>
    <p:sldLayoutId id="2147483682" r:id="rId7"/>
    <p:sldLayoutId id="2147483670" r:id="rId8"/>
    <p:sldLayoutId id="2147483693" r:id="rId9"/>
    <p:sldLayoutId id="2147483672" r:id="rId10"/>
    <p:sldLayoutId id="2147483671" r:id="rId11"/>
    <p:sldLayoutId id="2147483665" r:id="rId12"/>
    <p:sldLayoutId id="2147483681" r:id="rId13"/>
    <p:sldLayoutId id="2147483684" r:id="rId14"/>
    <p:sldLayoutId id="2147483686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4A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SzPct val="10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1F966FC-A82D-4874-9F78-10399E1A0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E1E722-5FE2-4B33-842A-039EDE1E6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541C1E-9CA1-4F7B-A9BC-58488EF8C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001630-572A-4B9D-83FD-8FF1CE88D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53CF0D-7C77-4418-A0BC-86ACE5EC8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465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wmopen-geology/chapter/outcome-scientific-tools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vector-illustration-of-door-key-pictogram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vector-illustration-of-door-key-pictogram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vector-illustration-of-door-key-pictogram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308672.htm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openclipart.org/detail/87799/download-package-by-kuba" TargetMode="Externa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308672.htm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87799/download-package-by-kuba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745CD-FBBE-495F-A229-724B32009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4" y="1820029"/>
            <a:ext cx="10397085" cy="2468557"/>
          </a:xfrm>
        </p:spPr>
        <p:txBody>
          <a:bodyPr>
            <a:noAutofit/>
          </a:bodyPr>
          <a:lstStyle/>
          <a:p>
            <a:r>
              <a:rPr lang="de-DE" b="0" dirty="0" err="1"/>
              <a:t>Modflow</a:t>
            </a:r>
            <a:r>
              <a:rPr lang="de-DE" b="0" dirty="0"/>
              <a:t> 6 LAB: </a:t>
            </a:r>
            <a:br>
              <a:rPr lang="de-DE" b="0" dirty="0"/>
            </a:br>
            <a:r>
              <a:rPr lang="en-US" b="0" dirty="0"/>
              <a:t>Customizing for Flow, Transport and Geothermal Modeling</a:t>
            </a:r>
            <a:endParaRPr lang="de-DE" b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9FCFF7-B339-453B-A89E-001A09DF664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Dr. Mike Müller </a:t>
            </a:r>
          </a:p>
          <a:p>
            <a:r>
              <a:rPr lang="de-DE" dirty="0" err="1">
                <a:solidFill>
                  <a:schemeClr val="bg1"/>
                </a:solidFill>
              </a:rPr>
              <a:t>Lúcia</a:t>
            </a:r>
            <a:r>
              <a:rPr lang="de-DE" dirty="0">
                <a:solidFill>
                  <a:schemeClr val="bg1"/>
                </a:solidFill>
              </a:rPr>
              <a:t> Pedrosa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26A910F-71B5-4430-99A3-4D7990627A7C}"/>
              </a:ext>
            </a:extLst>
          </p:cNvPr>
          <p:cNvSpPr txBox="1"/>
          <p:nvPr/>
        </p:nvSpPr>
        <p:spPr>
          <a:xfrm>
            <a:off x="2798410" y="4288586"/>
            <a:ext cx="9204199" cy="1349406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/>
          <a:p>
            <a:pPr algn="l"/>
            <a:r>
              <a:rPr lang="de-DE" sz="4000" b="1" i="0" dirty="0" err="1">
                <a:solidFill>
                  <a:schemeClr val="bg1"/>
                </a:solidFill>
                <a:latin typeface="Spartan ExtraBold" pitchFamily="2" charset="77"/>
              </a:rPr>
              <a:t>Introduction</a:t>
            </a:r>
            <a:r>
              <a:rPr lang="de-DE" sz="4000" b="1" i="0" dirty="0">
                <a:solidFill>
                  <a:schemeClr val="bg1"/>
                </a:solidFill>
                <a:latin typeface="Spartan ExtraBold" pitchFamily="2" charset="77"/>
              </a:rPr>
              <a:t> </a:t>
            </a:r>
            <a:r>
              <a:rPr lang="de-DE" sz="4000" b="1" i="0" dirty="0" err="1">
                <a:solidFill>
                  <a:schemeClr val="bg1"/>
                </a:solidFill>
                <a:latin typeface="Spartan ExtraBold" pitchFamily="2" charset="77"/>
              </a:rPr>
              <a:t>to</a:t>
            </a:r>
            <a:r>
              <a:rPr lang="de-DE" sz="4000" b="1" i="0" dirty="0">
                <a:solidFill>
                  <a:schemeClr val="bg1"/>
                </a:solidFill>
                <a:latin typeface="Spartan ExtraBold" pitchFamily="2" charset="77"/>
              </a:rPr>
              <a:t> MODFLOW 6 </a:t>
            </a:r>
          </a:p>
        </p:txBody>
      </p:sp>
    </p:spTree>
    <p:extLst>
      <p:ext uri="{BB962C8B-B14F-4D97-AF65-F5344CB8AC3E}">
        <p14:creationId xmlns:p14="http://schemas.microsoft.com/office/powerpoint/2010/main" val="293793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29D3442-B3D8-40FC-44FF-3640762FD57F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000" b="0" i="0" dirty="0">
                <a:effectLst/>
                <a:latin typeface="+mj-lt"/>
              </a:rPr>
              <a:t>MODFLOW 6 (MF6) is the latest generation of the U.S. Geological Survey (USGS) MODFLOW groundwater modeling framework. It represents a complete redesign of the classic MODFLOW series (MODFLOW-2005, MODFLOW-NWT, MODFLOW-USG, etc.), combining the best features of previous versions into a unified, flexible, and modular system.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+mj-lt"/>
              </a:rPr>
              <a:t>🌍 What is MODFLOW 6?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8BF429E-E755-4EEE-96FE-1B2802CF6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77166" y="0"/>
            <a:ext cx="2837894" cy="201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54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i="0" dirty="0">
                <a:effectLst/>
                <a:latin typeface="+mj-lt"/>
              </a:rPr>
              <a:t>Key </a:t>
            </a:r>
            <a:r>
              <a:rPr lang="de-DE" b="0" i="0" dirty="0" err="1">
                <a:effectLst/>
                <a:latin typeface="+mj-lt"/>
              </a:rPr>
              <a:t>characteristics</a:t>
            </a:r>
            <a:r>
              <a:rPr lang="de-DE" b="0" i="0" dirty="0">
                <a:effectLst/>
                <a:latin typeface="+mj-lt"/>
              </a:rPr>
              <a:t>:</a:t>
            </a:r>
            <a:endParaRPr lang="de-DE" dirty="0">
              <a:latin typeface="+mj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BA21D6-96A3-44F9-884D-C3B9C233B264}"/>
              </a:ext>
            </a:extLst>
          </p:cNvPr>
          <p:cNvSpPr txBox="1"/>
          <p:nvPr/>
        </p:nvSpPr>
        <p:spPr>
          <a:xfrm>
            <a:off x="461319" y="1307561"/>
            <a:ext cx="11408126" cy="4438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de-DE" b="1" dirty="0"/>
              <a:t>Unified Framework: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platform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simulating</a:t>
            </a:r>
            <a:r>
              <a:rPr lang="de-DE" dirty="0"/>
              <a:t> multiple </a:t>
            </a:r>
            <a:r>
              <a:rPr lang="de-DE" dirty="0" err="1"/>
              <a:t>hydrologic</a:t>
            </a:r>
            <a:r>
              <a:rPr lang="de-DE" dirty="0"/>
              <a:t> </a:t>
            </a:r>
            <a:r>
              <a:rPr lang="de-DE" dirty="0" err="1"/>
              <a:t>processes</a:t>
            </a:r>
            <a:r>
              <a:rPr lang="de-DE" dirty="0"/>
              <a:t> such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groundwater</a:t>
            </a:r>
            <a:r>
              <a:rPr lang="de-DE" dirty="0"/>
              <a:t> </a:t>
            </a:r>
            <a:r>
              <a:rPr lang="de-DE" dirty="0" err="1"/>
              <a:t>flow</a:t>
            </a:r>
            <a:r>
              <a:rPr lang="de-DE" dirty="0"/>
              <a:t> (GWF), </a:t>
            </a:r>
            <a:r>
              <a:rPr lang="de-DE" dirty="0" err="1"/>
              <a:t>groundwater</a:t>
            </a:r>
            <a:r>
              <a:rPr lang="de-DE" dirty="0"/>
              <a:t> </a:t>
            </a:r>
            <a:r>
              <a:rPr lang="de-DE" dirty="0" err="1"/>
              <a:t>transport</a:t>
            </a:r>
            <a:r>
              <a:rPr lang="de-DE" dirty="0"/>
              <a:t> (GWT), and </a:t>
            </a:r>
            <a:r>
              <a:rPr lang="de-DE" dirty="0" err="1"/>
              <a:t>exchanges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de-DE" b="1" dirty="0"/>
              <a:t>Modular and </a:t>
            </a:r>
            <a:r>
              <a:rPr lang="de-DE" b="1" dirty="0" err="1"/>
              <a:t>Object-Oriented</a:t>
            </a:r>
            <a:r>
              <a:rPr lang="de-DE" b="1" dirty="0"/>
              <a:t> Architecture</a:t>
            </a:r>
            <a:r>
              <a:rPr lang="de-DE" dirty="0"/>
              <a:t>: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, </a:t>
            </a:r>
            <a:r>
              <a:rPr lang="de-DE" dirty="0" err="1"/>
              <a:t>model</a:t>
            </a:r>
            <a:r>
              <a:rPr lang="de-DE" dirty="0"/>
              <a:t>, and </a:t>
            </a:r>
            <a:r>
              <a:rPr lang="de-DE" dirty="0" err="1"/>
              <a:t>package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implemented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modular </a:t>
            </a:r>
            <a:r>
              <a:rPr lang="de-DE" dirty="0" err="1"/>
              <a:t>unit</a:t>
            </a:r>
            <a:r>
              <a:rPr lang="de-DE" dirty="0"/>
              <a:t>, </a:t>
            </a:r>
            <a:r>
              <a:rPr lang="de-DE" dirty="0" err="1"/>
              <a:t>allowing</a:t>
            </a:r>
            <a:r>
              <a:rPr lang="de-DE" dirty="0"/>
              <a:t> flexible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composition</a:t>
            </a:r>
            <a:r>
              <a:rPr lang="de-DE" dirty="0"/>
              <a:t>.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 multiple </a:t>
            </a:r>
            <a:r>
              <a:rPr lang="de-DE" dirty="0" err="1"/>
              <a:t>models</a:t>
            </a:r>
            <a:r>
              <a:rPr lang="de-DE" dirty="0"/>
              <a:t> (e.g., GWF + GWT)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simulation</a:t>
            </a:r>
            <a:r>
              <a:rPr lang="de-DE" dirty="0"/>
              <a:t> and </a:t>
            </a:r>
            <a:r>
              <a:rPr lang="de-DE" dirty="0" err="1"/>
              <a:t>define</a:t>
            </a:r>
            <a:r>
              <a:rPr lang="de-DE" dirty="0"/>
              <a:t> </a:t>
            </a:r>
            <a:r>
              <a:rPr lang="de-DE" dirty="0" err="1"/>
              <a:t>exchanges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(e.g., </a:t>
            </a:r>
            <a:r>
              <a:rPr lang="de-DE" dirty="0" err="1"/>
              <a:t>flow</a:t>
            </a:r>
            <a:r>
              <a:rPr lang="de-DE" dirty="0"/>
              <a:t> </a:t>
            </a:r>
            <a:r>
              <a:rPr lang="de-DE" dirty="0" err="1"/>
              <a:t>coupling</a:t>
            </a:r>
            <a:r>
              <a:rPr lang="de-DE" dirty="0"/>
              <a:t>, </a:t>
            </a:r>
            <a:r>
              <a:rPr lang="de-DE" dirty="0" err="1"/>
              <a:t>solute</a:t>
            </a:r>
            <a:r>
              <a:rPr lang="de-DE" dirty="0"/>
              <a:t> </a:t>
            </a:r>
            <a:r>
              <a:rPr lang="de-DE" dirty="0" err="1"/>
              <a:t>transport</a:t>
            </a:r>
            <a:r>
              <a:rPr lang="de-DE" dirty="0"/>
              <a:t>).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de-DE" b="1" dirty="0" err="1"/>
              <a:t>Numerical</a:t>
            </a:r>
            <a:r>
              <a:rPr lang="de-DE" b="1" dirty="0"/>
              <a:t> </a:t>
            </a:r>
            <a:r>
              <a:rPr lang="de-DE" b="1" dirty="0" err="1"/>
              <a:t>Improvements</a:t>
            </a:r>
            <a:r>
              <a:rPr lang="de-DE" b="1" dirty="0"/>
              <a:t>:</a:t>
            </a:r>
            <a:r>
              <a:rPr lang="de-DE" dirty="0"/>
              <a:t> Enhanced iterative </a:t>
            </a:r>
            <a:r>
              <a:rPr lang="de-DE" dirty="0" err="1"/>
              <a:t>solver</a:t>
            </a:r>
            <a:r>
              <a:rPr lang="de-DE" dirty="0"/>
              <a:t> (IMS) </a:t>
            </a:r>
            <a:r>
              <a:rPr lang="de-DE" dirty="0" err="1"/>
              <a:t>package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convergence</a:t>
            </a:r>
            <a:r>
              <a:rPr lang="de-DE" dirty="0"/>
              <a:t> and </a:t>
            </a:r>
            <a:r>
              <a:rPr lang="de-DE" dirty="0" err="1"/>
              <a:t>performance</a:t>
            </a:r>
            <a:r>
              <a:rPr lang="de-DE" dirty="0"/>
              <a:t>. </a:t>
            </a:r>
            <a:r>
              <a:rPr lang="de-DE" dirty="0" err="1"/>
              <a:t>Advanced</a:t>
            </a:r>
            <a:r>
              <a:rPr lang="de-DE" dirty="0"/>
              <a:t> time-</a:t>
            </a:r>
            <a:r>
              <a:rPr lang="de-DE" dirty="0" err="1"/>
              <a:t>stepping</a:t>
            </a:r>
            <a:r>
              <a:rPr lang="de-DE" dirty="0"/>
              <a:t> and adaptive </a:t>
            </a:r>
            <a:r>
              <a:rPr lang="de-DE" dirty="0" err="1"/>
              <a:t>convergence</a:t>
            </a:r>
            <a:r>
              <a:rPr lang="de-DE" dirty="0"/>
              <a:t> </a:t>
            </a:r>
            <a:r>
              <a:rPr lang="de-DE" dirty="0" err="1"/>
              <a:t>checks</a:t>
            </a:r>
            <a:r>
              <a:rPr lang="de-DE" dirty="0"/>
              <a:t>. Support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structured</a:t>
            </a:r>
            <a:r>
              <a:rPr lang="de-DE" dirty="0"/>
              <a:t> (DIS), </a:t>
            </a:r>
            <a:r>
              <a:rPr lang="de-DE" dirty="0" err="1"/>
              <a:t>vertex-based</a:t>
            </a:r>
            <a:r>
              <a:rPr lang="de-DE" dirty="0"/>
              <a:t> (DISV), and </a:t>
            </a:r>
            <a:r>
              <a:rPr lang="de-DE" dirty="0" err="1"/>
              <a:t>unstructured</a:t>
            </a:r>
            <a:r>
              <a:rPr lang="de-DE" dirty="0"/>
              <a:t> (DISU) </a:t>
            </a:r>
            <a:r>
              <a:rPr lang="de-DE" dirty="0" err="1"/>
              <a:t>grids</a:t>
            </a:r>
            <a:r>
              <a:rPr lang="de-DE" dirty="0"/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394862A-6C03-45DC-BC9B-9C8CD0234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34065" y="-221574"/>
            <a:ext cx="1904762" cy="1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83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i="0" dirty="0">
                <a:effectLst/>
                <a:latin typeface="+mj-lt"/>
              </a:rPr>
              <a:t>Key </a:t>
            </a:r>
            <a:r>
              <a:rPr lang="de-DE" b="0" i="0" dirty="0" err="1">
                <a:effectLst/>
                <a:latin typeface="+mj-lt"/>
              </a:rPr>
              <a:t>characteristics</a:t>
            </a:r>
            <a:r>
              <a:rPr lang="de-DE" b="0" i="0" dirty="0">
                <a:effectLst/>
                <a:latin typeface="+mj-lt"/>
              </a:rPr>
              <a:t>:</a:t>
            </a:r>
            <a:endParaRPr lang="de-DE" dirty="0">
              <a:latin typeface="+mj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BA21D6-96A3-44F9-884D-C3B9C233B264}"/>
              </a:ext>
            </a:extLst>
          </p:cNvPr>
          <p:cNvSpPr txBox="1"/>
          <p:nvPr/>
        </p:nvSpPr>
        <p:spPr>
          <a:xfrm>
            <a:off x="461319" y="1307561"/>
            <a:ext cx="11408126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de-DE" b="1" dirty="0"/>
              <a:t>3. </a:t>
            </a:r>
            <a:r>
              <a:rPr lang="de-DE" b="1" dirty="0" err="1"/>
              <a:t>Numerical</a:t>
            </a:r>
            <a:r>
              <a:rPr lang="de-DE" b="1" dirty="0"/>
              <a:t> </a:t>
            </a:r>
            <a:r>
              <a:rPr lang="de-DE" b="1" dirty="0" err="1"/>
              <a:t>Improvements</a:t>
            </a:r>
            <a:r>
              <a:rPr lang="de-DE" b="1" dirty="0"/>
              <a:t>:</a:t>
            </a:r>
            <a:r>
              <a:rPr lang="de-DE" dirty="0"/>
              <a:t> Enhanced iterative </a:t>
            </a:r>
            <a:r>
              <a:rPr lang="de-DE" dirty="0" err="1"/>
              <a:t>solver</a:t>
            </a:r>
            <a:r>
              <a:rPr lang="de-DE" dirty="0"/>
              <a:t> (IMS) </a:t>
            </a:r>
            <a:r>
              <a:rPr lang="de-DE" dirty="0" err="1"/>
              <a:t>package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convergence</a:t>
            </a:r>
            <a:r>
              <a:rPr lang="de-DE" dirty="0"/>
              <a:t> and </a:t>
            </a:r>
            <a:r>
              <a:rPr lang="de-DE" dirty="0" err="1"/>
              <a:t>performance</a:t>
            </a:r>
            <a:r>
              <a:rPr lang="de-DE" dirty="0"/>
              <a:t>. </a:t>
            </a:r>
            <a:r>
              <a:rPr lang="de-DE" dirty="0" err="1"/>
              <a:t>Advanced</a:t>
            </a:r>
            <a:r>
              <a:rPr lang="de-DE" dirty="0"/>
              <a:t> time-</a:t>
            </a:r>
            <a:r>
              <a:rPr lang="de-DE" dirty="0" err="1"/>
              <a:t>stepping</a:t>
            </a:r>
            <a:r>
              <a:rPr lang="de-DE" dirty="0"/>
              <a:t> and adaptive </a:t>
            </a:r>
            <a:r>
              <a:rPr lang="de-DE" dirty="0" err="1"/>
              <a:t>convergence</a:t>
            </a:r>
            <a:r>
              <a:rPr lang="de-DE" dirty="0"/>
              <a:t> </a:t>
            </a:r>
            <a:r>
              <a:rPr lang="de-DE" dirty="0" err="1"/>
              <a:t>checks</a:t>
            </a:r>
            <a:r>
              <a:rPr lang="de-DE" dirty="0"/>
              <a:t>. Support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structured</a:t>
            </a:r>
            <a:r>
              <a:rPr lang="de-DE" dirty="0"/>
              <a:t> (DIS), </a:t>
            </a:r>
            <a:r>
              <a:rPr lang="de-DE" dirty="0" err="1"/>
              <a:t>vertex-based</a:t>
            </a:r>
            <a:r>
              <a:rPr lang="de-DE" dirty="0"/>
              <a:t> (DISV), and </a:t>
            </a:r>
            <a:r>
              <a:rPr lang="de-DE" dirty="0" err="1"/>
              <a:t>unstructured</a:t>
            </a:r>
            <a:r>
              <a:rPr lang="de-DE" dirty="0"/>
              <a:t> (DISU) </a:t>
            </a:r>
            <a:r>
              <a:rPr lang="de-DE" dirty="0" err="1"/>
              <a:t>grids</a:t>
            </a:r>
            <a:r>
              <a:rPr lang="de-DE" dirty="0"/>
              <a:t>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4. Inter-model Coupling: </a:t>
            </a:r>
            <a:r>
              <a:rPr lang="en-US" dirty="0"/>
              <a:t>Native support for GWF–GWF exchanges (linking aquifers or model domains). Support for GWF–GWT coupling (flow and transport interactions). Facilitates integrated groundwater–surface water or multi-layered aquifer modeling.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394862A-6C03-45DC-BC9B-9C8CD0234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34065" y="-221574"/>
            <a:ext cx="1904762" cy="1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8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i="0" dirty="0">
                <a:effectLst/>
                <a:latin typeface="+mj-lt"/>
              </a:rPr>
              <a:t>Key </a:t>
            </a:r>
            <a:r>
              <a:rPr lang="de-DE" b="0" i="0" dirty="0" err="1">
                <a:effectLst/>
                <a:latin typeface="+mj-lt"/>
              </a:rPr>
              <a:t>characteristics</a:t>
            </a:r>
            <a:r>
              <a:rPr lang="de-DE" b="0" i="0" dirty="0">
                <a:effectLst/>
                <a:latin typeface="+mj-lt"/>
              </a:rPr>
              <a:t>:</a:t>
            </a:r>
            <a:endParaRPr lang="de-DE" dirty="0">
              <a:latin typeface="+mj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BA21D6-96A3-44F9-884D-C3B9C233B264}"/>
              </a:ext>
            </a:extLst>
          </p:cNvPr>
          <p:cNvSpPr txBox="1"/>
          <p:nvPr/>
        </p:nvSpPr>
        <p:spPr>
          <a:xfrm>
            <a:off x="461319" y="1307561"/>
            <a:ext cx="11408126" cy="166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5. Enhanced Output Control and Post-processing:   </a:t>
            </a:r>
          </a:p>
          <a:p>
            <a:pPr>
              <a:lnSpc>
                <a:spcPct val="200000"/>
              </a:lnSpc>
            </a:pPr>
            <a:r>
              <a:rPr lang="en-US" b="1" dirty="0"/>
              <a:t>	</a:t>
            </a:r>
            <a:r>
              <a:rPr lang="en-US" dirty="0"/>
              <a:t>Output control (OC) allows users to customize which variables are written and at what frequency. Head, budget, and concentration outputs can be easily parsed using </a:t>
            </a:r>
            <a:r>
              <a:rPr lang="en-US" dirty="0" err="1"/>
              <a:t>FloPy</a:t>
            </a:r>
            <a:r>
              <a:rPr lang="en-US" dirty="0"/>
              <a:t> or PyMF6.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394862A-6C03-45DC-BC9B-9C8CD0234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34065" y="-221574"/>
            <a:ext cx="1904762" cy="1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95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b="0" i="0" dirty="0">
                <a:effectLst/>
                <a:latin typeface="+mj-lt"/>
              </a:rPr>
              <a:t>Internal </a:t>
            </a:r>
            <a:r>
              <a:rPr lang="de-DE" b="0" i="0" dirty="0" err="1">
                <a:effectLst/>
                <a:latin typeface="+mj-lt"/>
              </a:rPr>
              <a:t>Structure</a:t>
            </a:r>
            <a:r>
              <a:rPr lang="de-DE" b="0" i="0" dirty="0">
                <a:effectLst/>
                <a:latin typeface="+mj-lt"/>
              </a:rPr>
              <a:t> &amp; </a:t>
            </a:r>
            <a:r>
              <a:rPr lang="de-DE" b="0" i="0" dirty="0" err="1">
                <a:effectLst/>
                <a:latin typeface="+mj-lt"/>
              </a:rPr>
              <a:t>Hierarchy</a:t>
            </a:r>
            <a:endParaRPr lang="de-DE" b="0" i="0" dirty="0">
              <a:effectLst/>
              <a:latin typeface="+mj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BA21D6-96A3-44F9-884D-C3B9C233B264}"/>
              </a:ext>
            </a:extLst>
          </p:cNvPr>
          <p:cNvSpPr txBox="1"/>
          <p:nvPr/>
        </p:nvSpPr>
        <p:spPr>
          <a:xfrm>
            <a:off x="535350" y="1928998"/>
            <a:ext cx="11408126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MODFLOW 6 uses three primary components: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b="1" i="0" dirty="0">
                <a:effectLst/>
                <a:latin typeface="+mj-lt"/>
              </a:rPr>
              <a:t>Simulation (SIM): </a:t>
            </a:r>
            <a:r>
              <a:rPr lang="en-US" b="0" i="0" dirty="0">
                <a:effectLst/>
                <a:latin typeface="+mj-lt"/>
              </a:rPr>
              <a:t>The top-level container that manages time, models, and exchanges.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b="1" i="0" dirty="0">
                <a:effectLst/>
                <a:latin typeface="+mj-lt"/>
              </a:rPr>
              <a:t>Model (GWF, GWT, etc.): </a:t>
            </a:r>
            <a:r>
              <a:rPr lang="en-US" b="0" i="0" dirty="0">
                <a:effectLst/>
                <a:latin typeface="+mj-lt"/>
              </a:rPr>
              <a:t>Represents a specific process (flow, transport, etc.). Each model is composed of packages.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b="1" i="0" dirty="0">
                <a:effectLst/>
                <a:latin typeface="+mj-lt"/>
              </a:rPr>
              <a:t>Package: </a:t>
            </a:r>
            <a:r>
              <a:rPr lang="en-US" b="0" i="0" dirty="0">
                <a:effectLst/>
                <a:latin typeface="+mj-lt"/>
              </a:rPr>
              <a:t>Defines parameters, boundary conditions, and solver settings.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5640A00-17D8-44E1-8949-BF2F0AE5D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336" y="221943"/>
            <a:ext cx="1094783" cy="148288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CA198DA-EF63-4D07-AFC9-F5EA816208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104709" y="3604334"/>
            <a:ext cx="1811649" cy="181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12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b="0" i="0" dirty="0">
                <a:effectLst/>
                <a:latin typeface="+mj-lt"/>
              </a:rPr>
              <a:t>Internal </a:t>
            </a:r>
            <a:r>
              <a:rPr lang="de-DE" b="0" i="0" dirty="0" err="1">
                <a:effectLst/>
                <a:latin typeface="+mj-lt"/>
              </a:rPr>
              <a:t>Structure</a:t>
            </a:r>
            <a:r>
              <a:rPr lang="de-DE" b="0" i="0" dirty="0">
                <a:effectLst/>
                <a:latin typeface="+mj-lt"/>
              </a:rPr>
              <a:t> &amp; </a:t>
            </a:r>
            <a:r>
              <a:rPr lang="de-DE" b="0" i="0" dirty="0" err="1">
                <a:effectLst/>
                <a:latin typeface="+mj-lt"/>
              </a:rPr>
              <a:t>Hierarchy</a:t>
            </a:r>
            <a:endParaRPr lang="de-DE" b="0" i="0" dirty="0">
              <a:effectLst/>
              <a:latin typeface="+mj-l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5640A00-17D8-44E1-8949-BF2F0AE5D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336" y="221943"/>
            <a:ext cx="1094783" cy="148288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933D2D4-FB53-4F99-AE77-B7F5627C5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32" y="2505523"/>
            <a:ext cx="5380359" cy="238607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4AD1E9F-4CD9-45E8-B6B4-E508DE22AE3D}"/>
              </a:ext>
            </a:extLst>
          </p:cNvPr>
          <p:cNvSpPr txBox="1"/>
          <p:nvPr/>
        </p:nvSpPr>
        <p:spPr>
          <a:xfrm>
            <a:off x="883733" y="1895537"/>
            <a:ext cx="3151572" cy="45478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/>
          <a:p>
            <a:pPr algn="l"/>
            <a:r>
              <a:rPr lang="de-DE" sz="2000" b="1" i="0" dirty="0" err="1">
                <a:solidFill>
                  <a:srgbClr val="004A7D"/>
                </a:solidFill>
                <a:latin typeface="Spartan ExtraBold" pitchFamily="2" charset="77"/>
              </a:rPr>
              <a:t>Example</a:t>
            </a:r>
            <a:r>
              <a:rPr lang="de-DE" sz="2000" b="1" i="0" dirty="0">
                <a:solidFill>
                  <a:srgbClr val="004A7D"/>
                </a:solidFill>
                <a:latin typeface="Spartan ExtraBold" pitchFamily="2" charset="77"/>
              </a:rPr>
              <a:t>: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DE707D5-7FF4-404B-BD0D-8828BBE6B5CD}"/>
              </a:ext>
            </a:extLst>
          </p:cNvPr>
          <p:cNvSpPr txBox="1"/>
          <p:nvPr/>
        </p:nvSpPr>
        <p:spPr>
          <a:xfrm>
            <a:off x="5349335" y="1704822"/>
            <a:ext cx="6094520" cy="14932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+mj-lt"/>
              </a:rPr>
              <a:t>Packages are the building blocks where each represents a physical process or numerical control (e.g., discretization, boundary conditions, solver settings).</a:t>
            </a:r>
            <a:endParaRPr lang="de-DE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2317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b="0" i="0" dirty="0">
                <a:effectLst/>
                <a:latin typeface="+mj-lt"/>
              </a:rPr>
              <a:t>Package </a:t>
            </a:r>
            <a:r>
              <a:rPr lang="de-DE" b="0" i="0" dirty="0" err="1">
                <a:effectLst/>
                <a:latin typeface="+mj-lt"/>
              </a:rPr>
              <a:t>struture</a:t>
            </a:r>
            <a:r>
              <a:rPr lang="de-DE" b="0" i="0" dirty="0">
                <a:effectLst/>
                <a:latin typeface="+mj-lt"/>
              </a:rPr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CD29F69-1909-47E2-A2C4-923ABA2CA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14112" y="356336"/>
            <a:ext cx="2039495" cy="2039495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3575FE8-3315-46C7-B084-51865283F785}"/>
              </a:ext>
            </a:extLst>
          </p:cNvPr>
          <p:cNvSpPr txBox="1"/>
          <p:nvPr/>
        </p:nvSpPr>
        <p:spPr>
          <a:xfrm>
            <a:off x="748145" y="1313939"/>
            <a:ext cx="868881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de-DE" b="0" i="0" dirty="0">
                <a:effectLst/>
                <a:latin typeface="+mj-lt"/>
              </a:rPr>
              <a:t>Common </a:t>
            </a:r>
            <a:r>
              <a:rPr lang="de-DE" b="0" i="0" dirty="0" err="1">
                <a:effectLst/>
                <a:latin typeface="+mj-lt"/>
              </a:rPr>
              <a:t>package</a:t>
            </a:r>
            <a:r>
              <a:rPr lang="de-DE" b="0" i="0" dirty="0">
                <a:effectLst/>
                <a:latin typeface="+mj-lt"/>
              </a:rPr>
              <a:t> </a:t>
            </a:r>
            <a:r>
              <a:rPr lang="de-DE" b="0" i="0" dirty="0" err="1">
                <a:effectLst/>
                <a:latin typeface="+mj-lt"/>
              </a:rPr>
              <a:t>categories</a:t>
            </a:r>
            <a:r>
              <a:rPr lang="de-DE" b="0" i="0" dirty="0">
                <a:effectLst/>
                <a:latin typeface="+mj-lt"/>
              </a:rPr>
              <a:t>: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0" i="0" dirty="0" err="1">
                <a:effectLst/>
                <a:latin typeface="+mj-lt"/>
              </a:rPr>
              <a:t>Discretization</a:t>
            </a:r>
            <a:r>
              <a:rPr lang="de-DE" b="0" i="0" dirty="0">
                <a:effectLst/>
                <a:latin typeface="+mj-lt"/>
              </a:rPr>
              <a:t>: DIS, DISV, DISU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+mj-lt"/>
              </a:rPr>
              <a:t>Properties: NPF (</a:t>
            </a:r>
            <a:r>
              <a:rPr lang="de-DE" b="0" i="0" dirty="0" err="1">
                <a:effectLst/>
                <a:latin typeface="+mj-lt"/>
              </a:rPr>
              <a:t>flow</a:t>
            </a:r>
            <a:r>
              <a:rPr lang="de-DE" b="0" i="0" dirty="0">
                <a:effectLst/>
                <a:latin typeface="+mj-lt"/>
              </a:rPr>
              <a:t> </a:t>
            </a:r>
            <a:r>
              <a:rPr lang="de-DE" b="0" i="0" dirty="0" err="1">
                <a:effectLst/>
                <a:latin typeface="+mj-lt"/>
              </a:rPr>
              <a:t>properties</a:t>
            </a:r>
            <a:r>
              <a:rPr lang="de-DE" b="0" i="0" dirty="0">
                <a:effectLst/>
                <a:latin typeface="+mj-lt"/>
              </a:rPr>
              <a:t>), STO (</a:t>
            </a:r>
            <a:r>
              <a:rPr lang="de-DE" b="0" i="0" dirty="0" err="1">
                <a:effectLst/>
                <a:latin typeface="+mj-lt"/>
              </a:rPr>
              <a:t>storage</a:t>
            </a:r>
            <a:r>
              <a:rPr lang="de-DE" b="0" i="0" dirty="0">
                <a:effectLst/>
                <a:latin typeface="+mj-lt"/>
              </a:rPr>
              <a:t>)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+mj-lt"/>
              </a:rPr>
              <a:t>Initial &amp; Boundary </a:t>
            </a:r>
            <a:r>
              <a:rPr lang="de-DE" b="0" i="0" dirty="0" err="1">
                <a:effectLst/>
                <a:latin typeface="+mj-lt"/>
              </a:rPr>
              <a:t>Conditions</a:t>
            </a:r>
            <a:r>
              <a:rPr lang="de-DE" b="0" i="0" dirty="0">
                <a:effectLst/>
                <a:latin typeface="+mj-lt"/>
              </a:rPr>
              <a:t>: IC, CHD, WEL, RCH, DRN, RIV, GHB, EVT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+mj-lt"/>
              </a:rPr>
              <a:t>Solver &amp; Output: IMS, OC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0" i="0" dirty="0" err="1">
                <a:effectLst/>
                <a:latin typeface="+mj-lt"/>
              </a:rPr>
              <a:t>Coupling</a:t>
            </a:r>
            <a:r>
              <a:rPr lang="de-DE" b="0" i="0" dirty="0">
                <a:effectLst/>
                <a:latin typeface="+mj-lt"/>
              </a:rPr>
              <a:t> &amp; </a:t>
            </a:r>
            <a:r>
              <a:rPr lang="de-DE" b="0" i="0" dirty="0" err="1">
                <a:effectLst/>
                <a:latin typeface="+mj-lt"/>
              </a:rPr>
              <a:t>Exchanges</a:t>
            </a:r>
            <a:r>
              <a:rPr lang="de-DE" b="0" i="0" dirty="0">
                <a:effectLst/>
                <a:latin typeface="+mj-lt"/>
              </a:rPr>
              <a:t>: EXG, GWF-GWT </a:t>
            </a:r>
            <a:r>
              <a:rPr lang="de-DE" b="0" i="0" dirty="0" err="1">
                <a:effectLst/>
                <a:latin typeface="+mj-lt"/>
              </a:rPr>
              <a:t>connectors</a:t>
            </a:r>
            <a:endParaRPr lang="de-DE" b="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1669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rIns="0" anchor="t">
        <a:normAutofit/>
      </a:bodyPr>
      <a:lstStyle>
        <a:defPPr algn="l">
          <a:defRPr sz="2000" b="1" i="0" dirty="0">
            <a:solidFill>
              <a:srgbClr val="004A7D"/>
            </a:solidFill>
            <a:latin typeface="Spartan ExtraBold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CD6EA72-AF7F-462F-9AC0-76C9F8BA9064}" vid="{57E2CBE2-615A-4F91-98CE-C6E42D9E22C3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512</Words>
  <Application>Microsoft Office PowerPoint</Application>
  <PresentationFormat>Breitbild</PresentationFormat>
  <Paragraphs>31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Spartan ExtraBold</vt:lpstr>
      <vt:lpstr>Wingdings</vt:lpstr>
      <vt:lpstr>Office</vt:lpstr>
      <vt:lpstr>Benutzerdefiniertes Design</vt:lpstr>
      <vt:lpstr>Modflow 6 LAB:  Customizing for Flow, Transport and Geothermal Modeling</vt:lpstr>
      <vt:lpstr>🌍 What is MODFLOW 6?</vt:lpstr>
      <vt:lpstr>Key characteristics:</vt:lpstr>
      <vt:lpstr>Key characteristics:</vt:lpstr>
      <vt:lpstr>Key characteristics:</vt:lpstr>
      <vt:lpstr>Internal Structure &amp; Hierarchy</vt:lpstr>
      <vt:lpstr>Internal Structure &amp; Hierarchy</vt:lpstr>
      <vt:lpstr>Package struture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meiner präsentation</dc:title>
  <dc:creator>Matthias Donath</dc:creator>
  <cp:lastModifiedBy>lucialabarca</cp:lastModifiedBy>
  <cp:revision>158</cp:revision>
  <cp:lastPrinted>2023-04-13T13:19:24Z</cp:lastPrinted>
  <dcterms:created xsi:type="dcterms:W3CDTF">2021-01-06T10:07:23Z</dcterms:created>
  <dcterms:modified xsi:type="dcterms:W3CDTF">2025-10-08T14:59:01Z</dcterms:modified>
</cp:coreProperties>
</file>