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4" r:id="rId2"/>
  </p:sldMasterIdLst>
  <p:notesMasterIdLst>
    <p:notesMasterId r:id="rId9"/>
  </p:notesMasterIdLst>
  <p:sldIdLst>
    <p:sldId id="274" r:id="rId3"/>
    <p:sldId id="264" r:id="rId4"/>
    <p:sldId id="275" r:id="rId5"/>
    <p:sldId id="276" r:id="rId6"/>
    <p:sldId id="277" r:id="rId7"/>
    <p:sldId id="278" r:id="rId8"/>
  </p:sldIdLst>
  <p:sldSz cx="12192000" cy="6858000"/>
  <p:notesSz cx="7010400" cy="9296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11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7D"/>
    <a:srgbClr val="0069B4"/>
    <a:srgbClr val="8AA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1" autoAdjust="0"/>
    <p:restoredTop sz="94464" autoAdjust="0"/>
  </p:normalViewPr>
  <p:slideViewPr>
    <p:cSldViewPr snapToGrid="0" showGuides="1">
      <p:cViewPr varScale="1">
        <p:scale>
          <a:sx n="72" d="100"/>
          <a:sy n="72" d="100"/>
        </p:scale>
        <p:origin x="784" y="60"/>
      </p:cViewPr>
      <p:guideLst>
        <p:guide orient="horz" pos="3407"/>
        <p:guide pos="3840"/>
        <p:guide orient="horz" pos="686"/>
        <p:guide pos="438"/>
        <p:guide orient="horz" pos="1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676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9A2D55D-E9BC-4C36-B72D-B1213935B848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9146D6B-7675-4AF9-A4D9-D66329B706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32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1 Bild + + weisses Logo + weisse Schrift">
    <p:bg>
      <p:bgPr>
        <a:blipFill dpi="0" rotWithShape="1">
          <a:blip r:embed="rId2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B8C8C45B-0590-C7B4-4504-AF5F749CE6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95" y="1979827"/>
            <a:ext cx="10397085" cy="246855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MODFLOW 6 </a:t>
            </a:r>
            <a:r>
              <a:rPr lang="de-DE" dirty="0" err="1"/>
              <a:t>LaB</a:t>
            </a:r>
            <a:r>
              <a:rPr lang="de-DE" dirty="0"/>
              <a:t>:</a:t>
            </a:r>
            <a:br>
              <a:rPr lang="de-DE" dirty="0"/>
            </a:br>
            <a:r>
              <a:rPr lang="en-US" dirty="0"/>
              <a:t>Customizing for Flow, Transport and Geothermal Modeling</a:t>
            </a:r>
            <a:endParaRPr lang="de-DE" dirty="0"/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98AFF68E-B822-4231-A61A-A6F10FDB7A1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3528"/>
            <a:ext cx="0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32FF86D9-8154-4E9E-A5D0-32E129D68D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34" y="180295"/>
            <a:ext cx="2553192" cy="900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36A7490-614D-4DB0-B28F-FD0C02C55E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775" y="9422"/>
            <a:ext cx="4112926" cy="112270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0BA2278-0D90-4E55-A9D0-9A49C492E36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615" y="0"/>
            <a:ext cx="2400385" cy="240961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33B95B5-2049-4CBA-BDED-8E77F799210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395" y="0"/>
            <a:ext cx="2636520" cy="145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32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2 mit Bild + blaues Logo + blaue Sch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917FADB-6BCB-450A-89B0-2C9D482F34B8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2067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E2007EF2-C88C-4602-ADA3-D266EED92C1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E73D177-EA2B-44F5-972E-C043D46D38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5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-3 ohne Bild + blaues Logo + blaue 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rgbClr val="004A7D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C6CDA09-FD82-4784-BE64-14B010A06B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9" y="425778"/>
            <a:ext cx="2553191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94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-1 blauer Hintergrund + weiße Schrift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CEB8B-FF8D-4182-8AE2-CA42666339D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43996F6-A485-4260-8386-933AE275BD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80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-1 blau + Icons">
    <p:bg>
      <p:bgPr>
        <a:solidFill>
          <a:srgbClr val="00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063EAD2-69D9-CD41-8A47-FB81C38040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44462"/>
            <a:ext cx="12192000" cy="2813538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24884B69-E849-4E14-84C0-DB35C2BB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95" y="1979828"/>
            <a:ext cx="10397085" cy="1314518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600" b="1" i="0" cap="all" spc="0" baseline="0">
                <a:solidFill>
                  <a:schemeClr val="bg1"/>
                </a:solidFill>
                <a:effectLst/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4" name="Untertitel 2">
            <a:extLst>
              <a:ext uri="{FF2B5EF4-FFF2-40B4-BE49-F238E27FC236}">
                <a16:creationId xmlns:a16="http://schemas.microsoft.com/office/drawing/2014/main" id="{8B5A38D9-4A1A-4CCF-BF40-AADD0B153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3595" y="3429000"/>
            <a:ext cx="10397084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chemeClr val="bg1"/>
                </a:solidFill>
                <a:effectLst/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D38EA40-35B3-4F1F-9F2E-D448E0324B63}"/>
              </a:ext>
            </a:extLst>
          </p:cNvPr>
          <p:cNvSpPr txBox="1"/>
          <p:nvPr userDrawn="1"/>
        </p:nvSpPr>
        <p:spPr>
          <a:xfrm>
            <a:off x="5644055" y="6597650"/>
            <a:ext cx="914400" cy="914400"/>
          </a:xfrm>
          <a:prstGeom prst="rect">
            <a:avLst/>
          </a:prstGeom>
        </p:spPr>
        <p:txBody>
          <a:bodyPr wrap="none" lIns="0" rIns="0" rtlCol="0" anchor="t">
            <a:normAutofit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cxnSp>
        <p:nvCxnSpPr>
          <p:cNvPr id="9" name="Gerade Verbindung 3">
            <a:extLst>
              <a:ext uri="{FF2B5EF4-FFF2-40B4-BE49-F238E27FC236}">
                <a16:creationId xmlns:a16="http://schemas.microsoft.com/office/drawing/2014/main" id="{58FCB21F-2CBC-4166-8B73-93512D64F86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5840578"/>
            <a:ext cx="6536" cy="100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583E0077-0AE8-48B5-8E4F-027A4B652AE8}"/>
              </a:ext>
            </a:extLst>
          </p:cNvPr>
          <p:cNvGrpSpPr/>
          <p:nvPr userDrawn="1"/>
        </p:nvGrpSpPr>
        <p:grpSpPr>
          <a:xfrm>
            <a:off x="9673721" y="5081290"/>
            <a:ext cx="432000" cy="432000"/>
            <a:chOff x="9516982" y="5081290"/>
            <a:chExt cx="432000" cy="432000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EEC3FBFF-71A4-42EA-8322-21EB52F4B3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99935" y="5176625"/>
              <a:ext cx="292347" cy="252084"/>
            </a:xfrm>
            <a:prstGeom prst="rect">
              <a:avLst/>
            </a:prstGeom>
          </p:spPr>
        </p:pic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4F78127D-463F-4947-B99E-9D60C44CE15B}"/>
                </a:ext>
              </a:extLst>
            </p:cNvPr>
            <p:cNvSpPr/>
            <p:nvPr userDrawn="1"/>
          </p:nvSpPr>
          <p:spPr>
            <a:xfrm>
              <a:off x="9516982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45AEEB15-1D39-4ECC-A513-2E00D5DDBE05}"/>
              </a:ext>
            </a:extLst>
          </p:cNvPr>
          <p:cNvGrpSpPr/>
          <p:nvPr userDrawn="1"/>
        </p:nvGrpSpPr>
        <p:grpSpPr>
          <a:xfrm>
            <a:off x="8965837" y="5078474"/>
            <a:ext cx="432000" cy="432000"/>
            <a:chOff x="8564213" y="5044394"/>
            <a:chExt cx="432000" cy="432000"/>
          </a:xfrm>
        </p:grpSpPr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62759C13-50BB-421B-A581-6C180AC0D4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653" y="5117364"/>
              <a:ext cx="292797" cy="277285"/>
            </a:xfrm>
            <a:prstGeom prst="rect">
              <a:avLst/>
            </a:prstGeom>
          </p:spPr>
        </p:pic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1AA7C656-8418-450C-ABE9-907CB626EFD5}"/>
                </a:ext>
              </a:extLst>
            </p:cNvPr>
            <p:cNvSpPr/>
            <p:nvPr userDrawn="1"/>
          </p:nvSpPr>
          <p:spPr>
            <a:xfrm>
              <a:off x="8564213" y="504439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68D96637-D1E8-4D61-88A5-F0F36C3A159B}"/>
              </a:ext>
            </a:extLst>
          </p:cNvPr>
          <p:cNvGrpSpPr/>
          <p:nvPr userDrawn="1"/>
        </p:nvGrpSpPr>
        <p:grpSpPr>
          <a:xfrm>
            <a:off x="7560298" y="5098356"/>
            <a:ext cx="432000" cy="432000"/>
            <a:chOff x="6598847" y="5081290"/>
            <a:chExt cx="432000" cy="43200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49F96395-762E-40DD-9412-A225E9F133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4317" y="5165084"/>
              <a:ext cx="296078" cy="264412"/>
            </a:xfrm>
            <a:prstGeom prst="rect">
              <a:avLst/>
            </a:prstGeom>
          </p:spPr>
        </p:pic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DEFA5F46-33B7-42CA-8C06-2E32641EA02B}"/>
                </a:ext>
              </a:extLst>
            </p:cNvPr>
            <p:cNvSpPr/>
            <p:nvPr userDrawn="1"/>
          </p:nvSpPr>
          <p:spPr>
            <a:xfrm>
              <a:off x="6598847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29D21C79-0430-40D7-BA3E-6D4A54200C3F}"/>
              </a:ext>
            </a:extLst>
          </p:cNvPr>
          <p:cNvGrpSpPr/>
          <p:nvPr userDrawn="1"/>
        </p:nvGrpSpPr>
        <p:grpSpPr>
          <a:xfrm>
            <a:off x="11259139" y="5094670"/>
            <a:ext cx="432000" cy="432000"/>
            <a:chOff x="11259139" y="5094670"/>
            <a:chExt cx="432000" cy="432000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EB630743-9051-432B-8AE2-F9D47139FE4F}"/>
                </a:ext>
              </a:extLst>
            </p:cNvPr>
            <p:cNvSpPr/>
            <p:nvPr userDrawn="1"/>
          </p:nvSpPr>
          <p:spPr>
            <a:xfrm>
              <a:off x="11259139" y="509467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6E6C795-E7C0-4BB7-8985-B5987F7C3F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8450" y="5194314"/>
              <a:ext cx="263562" cy="217051"/>
            </a:xfrm>
            <a:prstGeom prst="rect">
              <a:avLst/>
            </a:prstGeom>
          </p:spPr>
        </p:pic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A7D2CCDB-AF54-4F8B-BFE1-0B1F2B1BD5F3}"/>
              </a:ext>
            </a:extLst>
          </p:cNvPr>
          <p:cNvGrpSpPr/>
          <p:nvPr userDrawn="1"/>
        </p:nvGrpSpPr>
        <p:grpSpPr>
          <a:xfrm>
            <a:off x="10461699" y="5089954"/>
            <a:ext cx="432000" cy="432000"/>
            <a:chOff x="10449843" y="5081290"/>
            <a:chExt cx="432000" cy="432000"/>
          </a:xfrm>
        </p:grpSpPr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C401D773-6F03-45B5-9556-D3E321F739D4}"/>
                </a:ext>
              </a:extLst>
            </p:cNvPr>
            <p:cNvSpPr/>
            <p:nvPr userDrawn="1"/>
          </p:nvSpPr>
          <p:spPr>
            <a:xfrm>
              <a:off x="10449843" y="5081290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D74B0388-CD11-4699-94F7-8392D6DCB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06707" y="5142565"/>
              <a:ext cx="312463" cy="295687"/>
            </a:xfrm>
            <a:prstGeom prst="rect">
              <a:avLst/>
            </a:prstGeom>
          </p:spPr>
        </p:pic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43B6950-136B-4BCA-9BDA-16A26FD96E88}"/>
              </a:ext>
            </a:extLst>
          </p:cNvPr>
          <p:cNvGrpSpPr/>
          <p:nvPr userDrawn="1"/>
        </p:nvGrpSpPr>
        <p:grpSpPr>
          <a:xfrm>
            <a:off x="8268182" y="5073703"/>
            <a:ext cx="432000" cy="432000"/>
            <a:chOff x="7543733" y="5051282"/>
            <a:chExt cx="432000" cy="432000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A3AA7F0-306C-4A59-80B2-A1E7D521EC2A}"/>
                </a:ext>
              </a:extLst>
            </p:cNvPr>
            <p:cNvSpPr/>
            <p:nvPr userDrawn="1"/>
          </p:nvSpPr>
          <p:spPr>
            <a:xfrm>
              <a:off x="7543733" y="5051282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34" name="Grafik 33">
              <a:extLst>
                <a:ext uri="{FF2B5EF4-FFF2-40B4-BE49-F238E27FC236}">
                  <a16:creationId xmlns:a16="http://schemas.microsoft.com/office/drawing/2014/main" id="{03867C0E-CAE7-4CF8-83FB-798B2DC769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6369" y="5146629"/>
              <a:ext cx="251497" cy="256925"/>
            </a:xfrm>
            <a:prstGeom prst="rect">
              <a:avLst/>
            </a:prstGeom>
          </p:spPr>
        </p:pic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5AD00A7-7086-4B2F-909E-5F535405A07B}"/>
              </a:ext>
            </a:extLst>
          </p:cNvPr>
          <p:cNvGrpSpPr/>
          <p:nvPr userDrawn="1"/>
        </p:nvGrpSpPr>
        <p:grpSpPr>
          <a:xfrm>
            <a:off x="6823537" y="5098356"/>
            <a:ext cx="432000" cy="432000"/>
            <a:chOff x="5562718" y="5092454"/>
            <a:chExt cx="432000" cy="43200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A350356D-ABA3-4A05-95F7-09DABEC916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44055" y="5117364"/>
              <a:ext cx="225337" cy="343476"/>
            </a:xfrm>
            <a:prstGeom prst="rect">
              <a:avLst/>
            </a:prstGeom>
          </p:spPr>
        </p:pic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342267B0-FDDE-41EA-B744-8004DAC1585B}"/>
                </a:ext>
              </a:extLst>
            </p:cNvPr>
            <p:cNvSpPr/>
            <p:nvPr userDrawn="1"/>
          </p:nvSpPr>
          <p:spPr>
            <a:xfrm>
              <a:off x="5562718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052F5FA-631B-44F5-88A3-3D6FBC02852A}"/>
              </a:ext>
            </a:extLst>
          </p:cNvPr>
          <p:cNvGrpSpPr/>
          <p:nvPr userDrawn="1"/>
        </p:nvGrpSpPr>
        <p:grpSpPr>
          <a:xfrm>
            <a:off x="6128336" y="5078474"/>
            <a:ext cx="432000" cy="432000"/>
            <a:chOff x="4526589" y="5092454"/>
            <a:chExt cx="432000" cy="432000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54F7FBBA-ACD3-4AEA-B3D7-9C56888BD8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0206" y="5117364"/>
              <a:ext cx="256024" cy="341366"/>
            </a:xfrm>
            <a:prstGeom prst="rect">
              <a:avLst/>
            </a:prstGeom>
          </p:spPr>
        </p:pic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AE856498-EEBD-4589-B68B-B3D5DCB8FB09}"/>
                </a:ext>
              </a:extLst>
            </p:cNvPr>
            <p:cNvSpPr/>
            <p:nvPr userDrawn="1"/>
          </p:nvSpPr>
          <p:spPr>
            <a:xfrm>
              <a:off x="4526589" y="5092454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046B783-5707-4830-9073-6922B92E88CD}"/>
              </a:ext>
            </a:extLst>
          </p:cNvPr>
          <p:cNvGrpSpPr/>
          <p:nvPr userDrawn="1"/>
        </p:nvGrpSpPr>
        <p:grpSpPr>
          <a:xfrm>
            <a:off x="5393991" y="5056241"/>
            <a:ext cx="432000" cy="416379"/>
            <a:chOff x="3387513" y="5066903"/>
            <a:chExt cx="432000" cy="416379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23D39FF9-D898-41C6-BF66-9272BAAFF6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2856" y="5176626"/>
              <a:ext cx="394622" cy="219518"/>
            </a:xfrm>
            <a:prstGeom prst="rect">
              <a:avLst/>
            </a:prstGeom>
          </p:spPr>
        </p:pic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B09CBD2B-07EF-40E9-BA81-7E41E3539AD4}"/>
                </a:ext>
              </a:extLst>
            </p:cNvPr>
            <p:cNvSpPr/>
            <p:nvPr userDrawn="1"/>
          </p:nvSpPr>
          <p:spPr>
            <a:xfrm>
              <a:off x="3387513" y="5066903"/>
              <a:ext cx="432000" cy="416379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7BCDA5C9-D775-4C78-AC67-48F594F02886}"/>
              </a:ext>
            </a:extLst>
          </p:cNvPr>
          <p:cNvGrpSpPr/>
          <p:nvPr userDrawn="1"/>
        </p:nvGrpSpPr>
        <p:grpSpPr>
          <a:xfrm>
            <a:off x="4646060" y="5073703"/>
            <a:ext cx="432000" cy="432000"/>
            <a:chOff x="2369927" y="5073703"/>
            <a:chExt cx="432000" cy="432000"/>
          </a:xfrm>
        </p:grpSpPr>
        <p:pic>
          <p:nvPicPr>
            <p:cNvPr id="32" name="Grafik 31">
              <a:extLst>
                <a:ext uri="{FF2B5EF4-FFF2-40B4-BE49-F238E27FC236}">
                  <a16:creationId xmlns:a16="http://schemas.microsoft.com/office/drawing/2014/main" id="{0D5B301C-3CB6-4A89-965E-A5F0B8328D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9656" y="5142565"/>
              <a:ext cx="325349" cy="303819"/>
            </a:xfrm>
            <a:prstGeom prst="rect">
              <a:avLst/>
            </a:prstGeom>
          </p:spPr>
        </p:pic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3D418CAD-C939-47D2-A48A-53BCC40AC89E}"/>
                </a:ext>
              </a:extLst>
            </p:cNvPr>
            <p:cNvSpPr/>
            <p:nvPr userDrawn="1"/>
          </p:nvSpPr>
          <p:spPr>
            <a:xfrm>
              <a:off x="2369927" y="5073703"/>
              <a:ext cx="432000" cy="4320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1" name="Textfeld 50">
            <a:extLst>
              <a:ext uri="{FF2B5EF4-FFF2-40B4-BE49-F238E27FC236}">
                <a16:creationId xmlns:a16="http://schemas.microsoft.com/office/drawing/2014/main" id="{B9AAF393-1DAC-46EB-9E98-30D8A7DD3E49}"/>
              </a:ext>
            </a:extLst>
          </p:cNvPr>
          <p:cNvSpPr txBox="1"/>
          <p:nvPr userDrawn="1"/>
        </p:nvSpPr>
        <p:spPr>
          <a:xfrm>
            <a:off x="10005717" y="5740402"/>
            <a:ext cx="1899223" cy="432000"/>
          </a:xfrm>
          <a:prstGeom prst="rect">
            <a:avLst/>
          </a:prstGeom>
        </p:spPr>
        <p:txBody>
          <a:bodyPr wrap="square" lIns="0" rIns="0" rtlCol="0" anchor="t">
            <a:noAutofit/>
          </a:bodyPr>
          <a:lstStyle/>
          <a:p>
            <a:pPr algn="l"/>
            <a:r>
              <a:rPr lang="de-DE" sz="3600" b="1" i="0" dirty="0">
                <a:solidFill>
                  <a:srgbClr val="004A7D">
                    <a:alpha val="50000"/>
                  </a:srgbClr>
                </a:solidFill>
                <a:latin typeface="Spartan ExtraBold" pitchFamily="2" charset="77"/>
              </a:rPr>
              <a:t>‚</a:t>
            </a:r>
            <a:r>
              <a:rPr lang="de-DE" sz="3600" b="1" i="0" dirty="0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de-DE" sz="3600" b="1" i="0" dirty="0" err="1">
                <a:solidFill>
                  <a:schemeClr val="bg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tubaf</a:t>
            </a:r>
            <a:endParaRPr lang="de-DE" sz="3600" b="1" i="0" dirty="0">
              <a:solidFill>
                <a:schemeClr val="bg1">
                  <a:alpha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platzhalter 4">
            <a:extLst>
              <a:ext uri="{FF2B5EF4-FFF2-40B4-BE49-F238E27FC236}">
                <a16:creationId xmlns:a16="http://schemas.microsoft.com/office/drawing/2014/main" id="{4A9A1807-AFB9-4E04-A7FF-787577FDF0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de-DE" dirty="0"/>
              <a:t>Formatvorlage Titel Vorname Name des Referenten und Einrichtung bearbeiten 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87783C0B-0A44-4ADF-8B1C-7ACC3A3AFD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2" y="481004"/>
            <a:ext cx="2553192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0C982A6E-B854-614E-80C2-782A66419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083" y="1968104"/>
            <a:ext cx="10976598" cy="1611917"/>
          </a:xfrm>
          <a:prstGeom prst="rect">
            <a:avLst/>
          </a:prstGeom>
          <a:noFill/>
        </p:spPr>
        <p:txBody>
          <a:bodyPr lIns="0" tIns="0" rIns="0" anchor="t">
            <a:normAutofit/>
          </a:bodyPr>
          <a:lstStyle>
            <a:lvl1pPr algn="l">
              <a:lnSpc>
                <a:spcPct val="120000"/>
              </a:lnSpc>
              <a:defRPr sz="3000" b="1" i="0" cap="all" spc="0" baseline="0">
                <a:solidFill>
                  <a:srgbClr val="004A7D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F72706C7-B025-2E4B-99F6-271DCFCCB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083" y="3800669"/>
            <a:ext cx="10976597" cy="99993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l">
              <a:buNone/>
              <a:defRPr sz="2600" b="0" i="0" baseline="0">
                <a:solidFill>
                  <a:srgbClr val="004A7D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29EC27-6B75-5683-899C-CEE80C23EAA2}"/>
              </a:ext>
            </a:extLst>
          </p:cNvPr>
          <p:cNvSpPr txBox="1"/>
          <p:nvPr userDrawn="1"/>
        </p:nvSpPr>
        <p:spPr>
          <a:xfrm>
            <a:off x="7208613" y="5508839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77986-215E-49C4-1E98-21F190856D43}"/>
              </a:ext>
            </a:extLst>
          </p:cNvPr>
          <p:cNvSpPr txBox="1"/>
          <p:nvPr userDrawn="1"/>
        </p:nvSpPr>
        <p:spPr>
          <a:xfrm>
            <a:off x="1371600" y="6350696"/>
            <a:ext cx="0" cy="0"/>
          </a:xfrm>
          <a:prstGeom prst="rect">
            <a:avLst/>
          </a:prstGeom>
        </p:spPr>
        <p:txBody>
          <a:bodyPr wrap="none" lIns="0" rIns="0" rtlCol="0" anchor="t">
            <a:normAutofit fontScale="25000" lnSpcReduction="20000"/>
          </a:bodyPr>
          <a:lstStyle/>
          <a:p>
            <a:pPr algn="l"/>
            <a:endParaRPr lang="de-DE" sz="2000" b="1" i="0" dirty="0">
              <a:solidFill>
                <a:srgbClr val="004A7D"/>
              </a:solidFill>
              <a:latin typeface="Spartan ExtraBold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8C6C8CF-289E-4065-8200-243CFD8151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993" y="5557623"/>
            <a:ext cx="2836687" cy="9999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1C6DCE5-3D9C-421A-939A-27205B0FA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700" y="5557623"/>
            <a:ext cx="4115025" cy="11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6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itel + Text / Tabelle, Bild,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C27592B3-D4DC-E24F-AA1C-2A05D60DD6C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10982536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DE3F634-B07A-6F47-9151-9C187E08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ED3A5DB9-A55B-BE5A-9FC1-A325D770964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DE80AFF6-A21C-4601-A053-9C90FA6D0F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C4482D1-19C7-4AC5-B635-39C11ACD01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446" y="5768866"/>
            <a:ext cx="3051157" cy="83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60BD8C6-7AB3-C64F-8C75-0984F7FD809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48145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7429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2001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57350" indent="-2857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00250" indent="-17145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0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2-spaltig +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64349417-2101-9E4F-957C-40EE9DC94BA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1454" y="1721708"/>
            <a:ext cx="5259227" cy="4213234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BCAE72CF-FE3E-B44F-A41E-BFF4769C3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923058"/>
            <a:ext cx="10982536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75F259-99BF-4C50-9E46-31C4F74325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  <p:sp>
        <p:nvSpPr>
          <p:cNvPr id="5" name="Bildplatzhalter 4">
            <a:extLst>
              <a:ext uri="{FF2B5EF4-FFF2-40B4-BE49-F238E27FC236}">
                <a16:creationId xmlns:a16="http://schemas.microsoft.com/office/drawing/2014/main" id="{2A669086-AB04-433D-8246-097847C001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713" y="1722438"/>
            <a:ext cx="5259600" cy="4213225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753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244DFFF-5FDB-2845-9FB3-C504544BB0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54083" y="864231"/>
            <a:ext cx="10976598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4C9F8A9-5AB5-4842-BB95-529AC4EA5F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5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EC617361-E60C-DE46-BBF4-073B94746F1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471453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400A0BB4-9691-2743-8231-5FFC854F1A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53301" y="864231"/>
            <a:ext cx="5259227" cy="5070711"/>
          </a:xfrm>
          <a:prstGeom prst="rect">
            <a:avLst/>
          </a:prstGeom>
        </p:spPr>
        <p:txBody>
          <a:bodyPr lIns="0" rIns="0"/>
          <a:lstStyle>
            <a:lvl1pPr marL="0" indent="0">
              <a:buClr>
                <a:srgbClr val="004A7D"/>
              </a:buClr>
              <a:buSzPct val="110000"/>
              <a:buFont typeface="Wingdings" pitchFamily="2" charset="2"/>
              <a:buNone/>
              <a:defRPr sz="1800">
                <a:latin typeface="+mn-lt"/>
              </a:defRPr>
            </a:lvl1pPr>
            <a:lvl2pPr marL="6858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600">
                <a:latin typeface="+mn-lt"/>
              </a:defRPr>
            </a:lvl2pPr>
            <a:lvl3pPr marL="11430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3pPr>
            <a:lvl4pPr marL="16002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400">
                <a:latin typeface="+mn-lt"/>
              </a:defRPr>
            </a:lvl4pPr>
            <a:lvl5pPr marL="2057400" indent="-228600">
              <a:buClr>
                <a:srgbClr val="004A7D"/>
              </a:buClr>
              <a:buSzPct val="110000"/>
              <a:buFont typeface="Arial" panose="020B0604020202020204" pitchFamily="34" charset="0"/>
              <a:buChar char="•"/>
              <a:defRPr sz="1200">
                <a:latin typeface="+mn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47E6EF-B4E5-4DDA-968D-99208E642B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07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/Fil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20FE898B-58F2-9142-9ED3-EEBBA769A76A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748145" y="841376"/>
            <a:ext cx="10982536" cy="495991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</a:lstStyle>
          <a:p>
            <a:r>
              <a:rPr lang="de-DE" dirty="0"/>
              <a:t>Video einfügen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471910D-ECEC-4A3C-9A03-94C8E8573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5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3E4BC42F-D558-FF41-B4B9-7A075C25C7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4083" y="1704822"/>
            <a:ext cx="10976598" cy="4230841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F955895-DF91-402F-A1C6-9F93D058C4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2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2483862F-6D91-964D-BE35-72549DABF132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753301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3EB6AEF6-6159-9C47-894F-6BB8454DB9E2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6475787" y="1712981"/>
            <a:ext cx="5259227" cy="4230688"/>
          </a:xfrm>
          <a:prstGeom prst="rect">
            <a:avLst/>
          </a:prstGeo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Diagramm einfügen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FFF3079-8DB1-4D0B-8387-B90D15955C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228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4">
            <a:extLst>
              <a:ext uri="{FF2B5EF4-FFF2-40B4-BE49-F238E27FC236}">
                <a16:creationId xmlns:a16="http://schemas.microsoft.com/office/drawing/2014/main" id="{B7933CBF-A719-B444-8AF5-04F23B2A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083" y="923058"/>
            <a:ext cx="10976598" cy="781764"/>
          </a:xfrm>
          <a:prstGeom prst="rect">
            <a:avLst/>
          </a:prstGeom>
        </p:spPr>
        <p:txBody>
          <a:bodyPr lIns="0" tIns="0"/>
          <a:lstStyle>
            <a:lvl1pPr>
              <a:defRPr sz="2400" b="1" i="0">
                <a:solidFill>
                  <a:srgbClr val="004A7D"/>
                </a:solidFill>
                <a:latin typeface="+mn-lt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Tabellenplatzhalter 3">
            <a:extLst>
              <a:ext uri="{FF2B5EF4-FFF2-40B4-BE49-F238E27FC236}">
                <a16:creationId xmlns:a16="http://schemas.microsoft.com/office/drawing/2014/main" id="{42393A5D-B8CA-DB43-A5C3-B61EB6BE6DAB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54084" y="1704975"/>
            <a:ext cx="10976598" cy="423068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>
                <a:latin typeface="+mn-lt"/>
              </a:defRPr>
            </a:lvl1pPr>
          </a:lstStyle>
          <a:p>
            <a:r>
              <a:rPr lang="de-DE" dirty="0"/>
              <a:t>Tabelle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87F0D6-09CA-44AC-9FEB-328BCDDDF2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98" y="5769631"/>
            <a:ext cx="893257" cy="8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BD2204-6A6A-4F63-AB83-4B0459695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55BC79-06C1-45EA-B8C3-ADFD42435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00325F-6B02-4872-8A16-CF14004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7375AA-C23B-47A5-BC74-237E6A1A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8580F-287C-49F9-BD7D-BB6148F8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119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140638-E5B3-4EE1-9702-3CDD2609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6FF481-3648-4790-9906-65793FF6C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C6632B-C0E5-4576-996F-5616E175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2B462B-8268-44F8-9F39-830AF38BB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6021B3-5931-48B9-9698-5F56C2F6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0849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67141-52C6-418D-9FA7-45D487CBB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87DB73-D890-42FA-8428-70F1503E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9A9D83-42DF-4BE9-8B2C-660DCA61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B5ECC6-CD4F-4F3C-A71E-DF9B5269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CF9415-DD00-4FC6-B21D-DA838EBB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741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0D3B5-D65B-4F4E-A9DB-AB7723B8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E5F22B-FF28-4EE7-B060-5B60F923E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CAAB5F-32E3-4D8E-AF2C-88E15B9BB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EA1A84-2162-4408-A1AD-EF3E5E8A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F2433A-85A6-40F0-9DD6-315BEA9A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4E3FBB-1240-4D5E-BA06-5643C8F9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85155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1CF47-0878-4E4B-8FB4-78A68935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0D7154-A801-43F6-B212-F0FB80C96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24309F-7D61-41C8-9295-05F4D5457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F3C5B31-0D4B-4D72-86D7-6461ABC1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3CFA69-EC6A-45C1-B5E1-DBA346442D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130AA0B-3916-4B7F-8DF7-3280C01E4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18EE690-42C3-41E1-A8A7-CD77ECFB8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244F11-605D-4863-8847-48F73232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49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61887-351E-4C7A-B998-F03E2AB1B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5B0C90-7AB7-4246-9B91-7337AAD7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714DAD-A55F-42DC-B2F9-9E75E4D3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4B0372-AF04-4E0C-B5F9-33931F802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8767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EF4E28C-1662-48BD-B46D-7E84E9EB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B8F9A3-F44B-448B-851E-23BC044B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B78A9F-0B70-4ED1-A4E2-7C7007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08479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463C1-92FB-477D-B023-1693DB14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4C75AD-44F1-4D0B-8D87-D38E12394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B61AEE-67D5-4B8B-A986-7ABF3FC83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190E4A-1592-4BD1-BD06-61EAF27B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8F9CFF-038B-4D4D-BBB1-F53895F8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03A69A-E474-4CED-B5E5-57790C6F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1086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BCE070-69C9-4903-B423-03D87F344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7310B2F-1B99-4299-B358-402F7E89B8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ED2747-C868-4CC0-B345-CF1A281A6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BFAD9CC-0DD9-424C-A430-0B7FE763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08DC81-F0CD-427D-884B-99F9E4C9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80A458B-7B9B-4496-9C78-84119193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555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CCB8C-7BA3-4774-A73D-246093D5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D91972-0E1B-4EA3-990E-5556F5D32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6DEE1E-9555-4208-AD73-D6EDD1EA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18E8FF-F0CD-4B25-96C3-77F8C9EA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1AF49E-C00E-4779-8B8B-9B4A10546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3889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9E17E0C-951F-44A9-A3BE-3DA659925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B66F5A-BF58-4880-B8A9-BA53C2C7C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2A09A3-CE37-436C-B57E-795FB5DAD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7C9949-8B9E-410D-BC63-3BBD428C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203B3B-C691-4E74-9B12-858F93EE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9990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0795399-D346-434E-8D09-D3DD7BBC35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04877"/>
            <a:ext cx="12192000" cy="2053123"/>
          </a:xfrm>
          <a:prstGeom prst="rect">
            <a:avLst/>
          </a:prstGeom>
        </p:spPr>
      </p:pic>
      <p:cxnSp>
        <p:nvCxnSpPr>
          <p:cNvPr id="3" name="Gerade Verbindung 3">
            <a:extLst>
              <a:ext uri="{FF2B5EF4-FFF2-40B4-BE49-F238E27FC236}">
                <a16:creationId xmlns:a16="http://schemas.microsoft.com/office/drawing/2014/main" id="{2495EACA-308F-418C-B9EA-94945FBC3B27}"/>
              </a:ext>
            </a:extLst>
          </p:cNvPr>
          <p:cNvCxnSpPr>
            <a:cxnSpLocks/>
          </p:cNvCxnSpPr>
          <p:nvPr userDrawn="1"/>
        </p:nvCxnSpPr>
        <p:spPr>
          <a:xfrm flipV="1">
            <a:off x="760227" y="6217600"/>
            <a:ext cx="0" cy="640400"/>
          </a:xfrm>
          <a:prstGeom prst="line">
            <a:avLst/>
          </a:prstGeom>
          <a:ln>
            <a:solidFill>
              <a:srgbClr val="004A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5FD97FBB-86D5-40D9-B3EC-5398F9E11FEC}"/>
              </a:ext>
            </a:extLst>
          </p:cNvPr>
          <p:cNvSpPr txBox="1">
            <a:spLocks/>
          </p:cNvSpPr>
          <p:nvPr userDrawn="1"/>
        </p:nvSpPr>
        <p:spPr>
          <a:xfrm>
            <a:off x="194239" y="6274750"/>
            <a:ext cx="494764" cy="365125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01FBD69-6E57-4E10-B6F4-1F4D658D73AC}" type="slidenum">
              <a:rPr lang="de-DE" smtClean="0">
                <a:latin typeface="+mn-lt"/>
              </a:rPr>
              <a:pPr/>
              <a:t>‹Nr.›</a:t>
            </a:fld>
            <a:endParaRPr lang="de-DE" dirty="0">
              <a:latin typeface="+mn-lt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A77748-C6C4-4817-BE47-EAF1BEA38A72}"/>
              </a:ext>
            </a:extLst>
          </p:cNvPr>
          <p:cNvSpPr txBox="1">
            <a:spLocks/>
          </p:cNvSpPr>
          <p:nvPr userDrawn="1"/>
        </p:nvSpPr>
        <p:spPr>
          <a:xfrm>
            <a:off x="902677" y="6223950"/>
            <a:ext cx="6864875" cy="533387"/>
          </a:xfrm>
          <a:prstGeom prst="rect">
            <a:avLst/>
          </a:prstGeom>
        </p:spPr>
        <p:txBody>
          <a:bodyPr lIns="0" tIns="0" rIns="0"/>
          <a:lstStyle>
            <a:defPPr>
              <a:defRPr lang="de-DE"/>
            </a:defPPr>
            <a:lvl1pPr marL="0" algn="l" defTabSz="914400" rtl="0" eaLnBrk="1" latinLnBrk="0" hangingPunct="1">
              <a:lnSpc>
                <a:spcPct val="150000"/>
              </a:lnSpc>
              <a:defRPr sz="1000" b="0" i="0" kern="1200" spc="0">
                <a:solidFill>
                  <a:srgbClr val="004A7D"/>
                </a:solidFill>
                <a:latin typeface="Spartan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+mn-lt"/>
              </a:rPr>
              <a:t>Dr. Mike Müller </a:t>
            </a:r>
          </a:p>
          <a:p>
            <a:r>
              <a:rPr lang="de-DE" dirty="0" err="1">
                <a:latin typeface="+mn-lt"/>
              </a:rPr>
              <a:t>Lúcia</a:t>
            </a:r>
            <a:r>
              <a:rPr lang="de-DE" dirty="0">
                <a:latin typeface="+mn-lt"/>
              </a:rPr>
              <a:t> Pedrosa </a:t>
            </a:r>
          </a:p>
          <a:p>
            <a:endParaRPr lang="de-D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5392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69" r:id="rId3"/>
    <p:sldLayoutId id="2147483691" r:id="rId4"/>
    <p:sldLayoutId id="2147483692" r:id="rId5"/>
    <p:sldLayoutId id="2147483649" r:id="rId6"/>
    <p:sldLayoutId id="2147483682" r:id="rId7"/>
    <p:sldLayoutId id="2147483670" r:id="rId8"/>
    <p:sldLayoutId id="2147483693" r:id="rId9"/>
    <p:sldLayoutId id="2147483672" r:id="rId10"/>
    <p:sldLayoutId id="2147483671" r:id="rId11"/>
    <p:sldLayoutId id="2147483665" r:id="rId12"/>
    <p:sldLayoutId id="2147483681" r:id="rId13"/>
    <p:sldLayoutId id="2147483684" r:id="rId14"/>
    <p:sldLayoutId id="2147483686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4A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SzPct val="100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4A7D"/>
        </a:buClr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1F966FC-A82D-4874-9F78-10399E1A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1E722-5FE2-4B33-842A-039EDE1E6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41C1E-9CA1-4F7B-A9BC-58488EF8C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D8CC1-581E-4637-A8C4-B68F8B4B4ABF}" type="datetimeFigureOut">
              <a:rPr lang="de-DE" smtClean="0"/>
              <a:t>08.10.2025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01630-572A-4B9D-83FD-8FF1CE88DF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53CF0D-7C77-4418-A0BC-86ACE5EC8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0B55D-C360-4735-8358-ABFE49938B4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65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xhere.com/zh/photo/659295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00bcd4/image/311611.html" TargetMode="External"/><Relationship Id="rId3" Type="http://schemas.openxmlformats.org/officeDocument/2006/relationships/hyperlink" Target="https://pixabay.com/it/calendario-date-schedule-data-2027122/" TargetMode="External"/><Relationship Id="rId7" Type="http://schemas.openxmlformats.org/officeDocument/2006/relationships/image" Target="../media/image26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hyperlink" Target="https://openclipart.org/detail/22305" TargetMode="Externa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svgsilh.com/00bcd4/image/311611.html" TargetMode="External"/><Relationship Id="rId3" Type="http://schemas.openxmlformats.org/officeDocument/2006/relationships/hyperlink" Target="https://pixabay.com/it/calendario-date-schedule-data-2027122/" TargetMode="External"/><Relationship Id="rId7" Type="http://schemas.openxmlformats.org/officeDocument/2006/relationships/image" Target="../media/image26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hyperlink" Target="https://openclipart.org/detail/22305" TargetMode="External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arget-dart-aim-success-goal-1414775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745CD-FBBE-495F-A229-724B32009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de-DE" dirty="0"/>
              <a:t>WORKSHOP </a:t>
            </a:r>
            <a:r>
              <a:rPr lang="de-DE" dirty="0" err="1"/>
              <a:t>Overview</a:t>
            </a:r>
            <a:br>
              <a:rPr lang="de-DE" dirty="0"/>
            </a:br>
            <a:r>
              <a:rPr lang="de-DE" dirty="0" err="1"/>
              <a:t>Modflow</a:t>
            </a:r>
            <a:r>
              <a:rPr lang="de-DE" dirty="0"/>
              <a:t> 6 LAB: </a:t>
            </a:r>
            <a:br>
              <a:rPr lang="de-DE" dirty="0"/>
            </a:br>
            <a:r>
              <a:rPr lang="en-US" dirty="0"/>
              <a:t>Customizing for Flow, Transport and Geothermal Modeling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9FCFF7-B339-453B-A89E-001A09DF66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49721" y="5768578"/>
            <a:ext cx="10680958" cy="1080000"/>
          </a:xfrm>
          <a:prstGeom prst="rect">
            <a:avLst/>
          </a:prstGeo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Dr. Mike Müller </a:t>
            </a:r>
          </a:p>
          <a:p>
            <a:r>
              <a:rPr lang="de-DE" dirty="0" err="1">
                <a:solidFill>
                  <a:schemeClr val="bg1"/>
                </a:solidFill>
              </a:rPr>
              <a:t>Lúcia</a:t>
            </a:r>
            <a:r>
              <a:rPr lang="de-DE" dirty="0">
                <a:solidFill>
                  <a:schemeClr val="bg1"/>
                </a:solidFill>
              </a:rPr>
              <a:t> Pedrosa </a:t>
            </a:r>
          </a:p>
        </p:txBody>
      </p:sp>
    </p:spTree>
    <p:extLst>
      <p:ext uri="{BB962C8B-B14F-4D97-AF65-F5344CB8AC3E}">
        <p14:creationId xmlns:p14="http://schemas.microsoft.com/office/powerpoint/2010/main" val="293793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29D3442-B3D8-40FC-44FF-3640762FD57F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E</a:t>
            </a:r>
            <a:r>
              <a:rPr lang="en-US" b="0" i="0" dirty="0">
                <a:effectLst/>
                <a:latin typeface="+mj-lt"/>
              </a:rPr>
              <a:t>xtend the capabilities of MODFLOW 6 for advanced groundwater, solute transport, and geothermal modeling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L</a:t>
            </a:r>
            <a:r>
              <a:rPr lang="en-US" b="0" i="0" dirty="0">
                <a:effectLst/>
                <a:latin typeface="+mj-lt"/>
              </a:rPr>
              <a:t>earn how to use Python and the pymf6 library to implement custom boundary conditions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</a:rPr>
              <a:t>F</a:t>
            </a:r>
            <a:r>
              <a:rPr lang="en-US" b="0" i="0" dirty="0">
                <a:effectLst/>
                <a:latin typeface="+mj-lt"/>
              </a:rPr>
              <a:t>ocus is on practical, flexible tools to solve complex subsurface problems with minimal code and maximum adaptability</a:t>
            </a:r>
            <a:endParaRPr lang="de-DE" dirty="0">
              <a:latin typeface="+mj-lt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Workshop </a:t>
            </a:r>
            <a:r>
              <a:rPr lang="de-DE" dirty="0" err="1"/>
              <a:t>Overview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725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r>
              <a:rPr lang="de-DE" dirty="0"/>
              <a:t> Round 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F0B064E-3ECC-4AA9-8FF4-F459E86DA2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06"/>
          <a:stretch/>
        </p:blipFill>
        <p:spPr>
          <a:xfrm>
            <a:off x="748145" y="1617043"/>
            <a:ext cx="7170476" cy="30319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3903AAC-E6D3-427E-87BE-FBC838588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537207" y="0"/>
            <a:ext cx="3654793" cy="243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83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Program</a:t>
            </a:r>
            <a:r>
              <a:rPr lang="de-DE" dirty="0"/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F5A5A6-9614-4A44-9AAC-FD1E4054260D}"/>
              </a:ext>
            </a:extLst>
          </p:cNvPr>
          <p:cNvSpPr txBox="1"/>
          <p:nvPr/>
        </p:nvSpPr>
        <p:spPr>
          <a:xfrm>
            <a:off x="748145" y="1313940"/>
            <a:ext cx="4032985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i="0" dirty="0">
                <a:effectLst/>
                <a:latin typeface="+mj-lt"/>
              </a:rPr>
              <a:t>Thursday: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9:30 – 9:45 Welcome &amp; Introduction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9:45 -10:30 Technical set-up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10:30 -10:45 Break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10:45 – 12:00 pymf6 Principles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12:00 – 13:00 Lunch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71FB28-5468-4C48-89AF-E3DAA3C3C95C}"/>
              </a:ext>
            </a:extLst>
          </p:cNvPr>
          <p:cNvSpPr txBox="1"/>
          <p:nvPr/>
        </p:nvSpPr>
        <p:spPr>
          <a:xfrm>
            <a:off x="5439878" y="1867938"/>
            <a:ext cx="6097604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13:00 – 15:00 Flow Model: Controlling the well withdraw based on a target groundwater level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15:00 – 15:30 Break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15:30 – 17:00 Flow Model: Dynamic river bed conductance for gaining and loosing river sections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FC1F8F7-533A-4AED-84AF-723C5BC7F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86198" y="164780"/>
            <a:ext cx="1540042" cy="1540042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274CBA7-FC56-4B6B-90AD-18FDA7BC8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003082" y="2902139"/>
            <a:ext cx="834190" cy="83419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6DFED7A-32B6-4472-8943-EDDFB32AD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38810" y="2902139"/>
            <a:ext cx="834190" cy="8341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480BFE9-AF3D-49BC-B506-EDEC55562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30872" y="4174647"/>
            <a:ext cx="1412799" cy="93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0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Program</a:t>
            </a:r>
            <a:r>
              <a:rPr lang="de-DE" dirty="0"/>
              <a:t>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F5A5A6-9614-4A44-9AAC-FD1E4054260D}"/>
              </a:ext>
            </a:extLst>
          </p:cNvPr>
          <p:cNvSpPr txBox="1"/>
          <p:nvPr/>
        </p:nvSpPr>
        <p:spPr>
          <a:xfrm>
            <a:off x="748145" y="1313940"/>
            <a:ext cx="4691733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+mj-lt"/>
              </a:rPr>
              <a:t>Friday</a:t>
            </a:r>
            <a:r>
              <a:rPr lang="en-US" b="1" i="0" dirty="0">
                <a:effectLst/>
                <a:latin typeface="+mj-lt"/>
              </a:rPr>
              <a:t>: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Friday 9:30 – 10:00 Recap &amp; Discussion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10:00 – 11:00 Scenario transport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11:00 – 11:15 Break 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11.15 – 13:00 Heat model: 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13:00 – 14:00 Lunch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71FB28-5468-4C48-89AF-E3DAA3C3C95C}"/>
              </a:ext>
            </a:extLst>
          </p:cNvPr>
          <p:cNvSpPr txBox="1"/>
          <p:nvPr/>
        </p:nvSpPr>
        <p:spPr>
          <a:xfrm>
            <a:off x="5930767" y="1867937"/>
            <a:ext cx="6097604" cy="333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14:00 – 15:30 Outlook: Coupling analytic solutions and </a:t>
            </a:r>
            <a:r>
              <a:rPr lang="en-US" dirty="0">
                <a:latin typeface="+mj-lt"/>
              </a:rPr>
              <a:t>r</a:t>
            </a:r>
            <a:r>
              <a:rPr lang="en-US" b="0" i="0" dirty="0">
                <a:effectLst/>
                <a:latin typeface="+mj-lt"/>
              </a:rPr>
              <a:t>eactive transport modeling with pymf6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15:30 – 15:45 Break </a:t>
            </a:r>
          </a:p>
          <a:p>
            <a:pPr algn="l">
              <a:lnSpc>
                <a:spcPct val="200000"/>
              </a:lnSpc>
            </a:pPr>
            <a:r>
              <a:rPr lang="en-US" b="0" i="0" dirty="0">
                <a:effectLst/>
                <a:latin typeface="+mj-lt"/>
              </a:rPr>
              <a:t>15:45 – 16:30 Q&amp;A: Ask questions about your model customization needs and get answers from author of pymf6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FC1F8F7-533A-4AED-84AF-723C5BC7F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86198" y="164780"/>
            <a:ext cx="1540042" cy="154004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6DFED7A-32B6-4472-8943-EDDFB32AD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252696" y="2979139"/>
            <a:ext cx="834190" cy="8341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2480BFE9-AF3D-49BC-B506-EDEC55562E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30872" y="4174647"/>
            <a:ext cx="1412799" cy="93938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0F92077-376C-41EA-8720-5A6569C3E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003081" y="2902139"/>
            <a:ext cx="834190" cy="83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0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AB7072-70FD-CCC2-244B-660AD540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Workshop Goals 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2F5A5A6-9614-4A44-9AAC-FD1E4054260D}"/>
              </a:ext>
            </a:extLst>
          </p:cNvPr>
          <p:cNvSpPr txBox="1"/>
          <p:nvPr/>
        </p:nvSpPr>
        <p:spPr>
          <a:xfrm>
            <a:off x="748145" y="1410192"/>
            <a:ext cx="9964773" cy="3434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250000"/>
              </a:lnSpc>
              <a:buAutoNum type="arabicPeriod"/>
            </a:pPr>
            <a:r>
              <a:rPr lang="en-US" dirty="0">
                <a:latin typeface="+mj-lt"/>
              </a:rPr>
              <a:t>Understand and extend the modular design of MODFLOW 6</a:t>
            </a:r>
          </a:p>
          <a:p>
            <a:pPr marL="342900" indent="-342900" algn="l">
              <a:lnSpc>
                <a:spcPct val="250000"/>
              </a:lnSpc>
              <a:buAutoNum type="arabicPeriod"/>
            </a:pPr>
            <a:r>
              <a:rPr lang="en-US" dirty="0">
                <a:latin typeface="+mj-lt"/>
              </a:rPr>
              <a:t>Use Python + PyMF6 to automate modeling workflows and customize boundary conditions.</a:t>
            </a:r>
          </a:p>
          <a:p>
            <a:pPr marL="342900" indent="-342900" algn="l">
              <a:lnSpc>
                <a:spcPct val="250000"/>
              </a:lnSpc>
              <a:buAutoNum type="arabicPeriod"/>
            </a:pPr>
            <a:r>
              <a:rPr lang="en-US" dirty="0">
                <a:latin typeface="+mj-lt"/>
              </a:rPr>
              <a:t>Implement direction-dependent and dynamic boundary conditions programmatically.</a:t>
            </a:r>
          </a:p>
          <a:p>
            <a:pPr marL="800100" lvl="1" indent="-342900">
              <a:lnSpc>
                <a:spcPct val="250000"/>
              </a:lnSpc>
              <a:buFont typeface="+mj-lt"/>
              <a:buAutoNum type="alphaLcPeriod"/>
            </a:pPr>
            <a:r>
              <a:rPr lang="en-US" dirty="0">
                <a:latin typeface="+mj-lt"/>
              </a:rPr>
              <a:t>Flow, Transport and Heat Models </a:t>
            </a:r>
          </a:p>
          <a:p>
            <a:pPr marL="342900" indent="-342900" algn="l">
              <a:lnSpc>
                <a:spcPct val="250000"/>
              </a:lnSpc>
              <a:buAutoNum type="arabicPeriod"/>
            </a:pPr>
            <a:r>
              <a:rPr lang="en-US" dirty="0">
                <a:latin typeface="+mj-lt"/>
              </a:rPr>
              <a:t>Understand how to couple MODFLOW 6 with external analytical or numerical models.</a:t>
            </a:r>
            <a:endParaRPr lang="en-US" i="0" dirty="0">
              <a:effectLst/>
              <a:latin typeface="+mj-lt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80F0658-3E35-4490-ACF9-617659B9B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933270" y="83759"/>
            <a:ext cx="2029045" cy="202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3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rIns="0" anchor="t">
        <a:normAutofit/>
      </a:bodyPr>
      <a:lstStyle>
        <a:defPPr algn="l">
          <a:defRPr sz="2000" b="1" i="0" dirty="0">
            <a:solidFill>
              <a:srgbClr val="004A7D"/>
            </a:solidFill>
            <a:latin typeface="Spartan ExtraBold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6CD6EA72-AF7F-462F-9AC0-76C9F8BA9064}" vid="{57E2CBE2-615A-4F91-98CE-C6E42D9E22C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256</Words>
  <Application>Microsoft Office PowerPoint</Application>
  <PresentationFormat>Breitbild</PresentationFormat>
  <Paragraphs>34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Spartan ExtraBold</vt:lpstr>
      <vt:lpstr>Wingdings</vt:lpstr>
      <vt:lpstr>Office</vt:lpstr>
      <vt:lpstr>Benutzerdefiniertes Design</vt:lpstr>
      <vt:lpstr>WORKSHOP Overview Modflow 6 LAB:  Customizing for Flow, Transport and Geothermal Modeling</vt:lpstr>
      <vt:lpstr>Workshop Overview </vt:lpstr>
      <vt:lpstr>Introduction Round </vt:lpstr>
      <vt:lpstr>Program </vt:lpstr>
      <vt:lpstr>Program </vt:lpstr>
      <vt:lpstr>Workshop Goals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meiner präsentation</dc:title>
  <dc:creator>Matthias Donath</dc:creator>
  <cp:lastModifiedBy>lucialabarca</cp:lastModifiedBy>
  <cp:revision>157</cp:revision>
  <cp:lastPrinted>2023-04-13T13:19:24Z</cp:lastPrinted>
  <dcterms:created xsi:type="dcterms:W3CDTF">2021-01-06T10:07:23Z</dcterms:created>
  <dcterms:modified xsi:type="dcterms:W3CDTF">2025-10-08T15:01:08Z</dcterms:modified>
</cp:coreProperties>
</file>