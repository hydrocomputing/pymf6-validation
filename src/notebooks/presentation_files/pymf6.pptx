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4" r:id="rId2"/>
  </p:sldMasterIdLst>
  <p:notesMasterIdLst>
    <p:notesMasterId r:id="rId10"/>
  </p:notesMasterIdLst>
  <p:sldIdLst>
    <p:sldId id="274" r:id="rId3"/>
    <p:sldId id="264" r:id="rId4"/>
    <p:sldId id="275" r:id="rId5"/>
    <p:sldId id="276" r:id="rId6"/>
    <p:sldId id="277" r:id="rId7"/>
    <p:sldId id="278" r:id="rId8"/>
    <p:sldId id="279" r:id="rId9"/>
  </p:sldIdLst>
  <p:sldSz cx="12192000" cy="6858000"/>
  <p:notesSz cx="7010400" cy="9296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7D"/>
    <a:srgbClr val="0069B4"/>
    <a:srgbClr val="8AA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1" autoAdjust="0"/>
    <p:restoredTop sz="94464" autoAdjust="0"/>
  </p:normalViewPr>
  <p:slideViewPr>
    <p:cSldViewPr snapToGrid="0" showGuides="1">
      <p:cViewPr varScale="1">
        <p:scale>
          <a:sx n="72" d="100"/>
          <a:sy n="72" d="100"/>
        </p:scale>
        <p:origin x="784" y="60"/>
      </p:cViewPr>
      <p:guideLst>
        <p:guide orient="horz" pos="3407"/>
        <p:guide pos="3840"/>
        <p:guide orient="horz" pos="686"/>
        <p:guide pos="438"/>
        <p:guide orient="horz" pos="1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9A2D55D-E9BC-4C36-B72D-B1213935B848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146D6B-7675-4AF9-A4D9-D66329B706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32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1 Bild + + weisses Logo + weisse Schrift">
    <p:bg>
      <p:bgPr>
        <a:blipFill dpi="0" rotWithShape="1">
          <a:blip r:embed="rId2">
            <a:lum/>
          </a:blip>
          <a:srcRect/>
          <a:stretch>
            <a:fillRect t="-76000" b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95" y="1979827"/>
            <a:ext cx="10397085" cy="2468557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MODFLOW 6 </a:t>
            </a:r>
            <a:r>
              <a:rPr lang="de-DE" dirty="0" err="1"/>
              <a:t>LaB</a:t>
            </a:r>
            <a:r>
              <a:rPr lang="de-DE" dirty="0"/>
              <a:t>:</a:t>
            </a:r>
            <a:br>
              <a:rPr lang="de-DE" dirty="0"/>
            </a:br>
            <a:r>
              <a:rPr lang="en-US" dirty="0"/>
              <a:t>Customizing for Flow, Transport and Geothermal Modeling</a:t>
            </a:r>
            <a:endParaRPr lang="de-DE" dirty="0"/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32FF86D9-8154-4E9E-A5D0-32E129D68D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34" y="180295"/>
            <a:ext cx="2553192" cy="90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36A7490-614D-4DB0-B28F-FD0C02C55E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775" y="9422"/>
            <a:ext cx="4112926" cy="112270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0BA2278-0D90-4E55-A9D0-9A49C492E3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615" y="0"/>
            <a:ext cx="2400385" cy="240961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33B95B5-2049-4CBA-BDED-8E77F799210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395" y="0"/>
            <a:ext cx="2636520" cy="145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32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-2 mit Bild + blaues Logo + blaue Schr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rgbClr val="004A7D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917FADB-6BCB-450A-89B0-2C9D482F34B8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2067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2007EF2-C88C-4602-ADA3-D266EED92C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E73D177-EA2B-44F5-972E-C043D46D38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" y="425778"/>
            <a:ext cx="25531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5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-3 ohne Bild + blaues Logo + blau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rgbClr val="004A7D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CEB8B-FF8D-4182-8AE2-CA4266633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C6CDA09-FD82-4784-BE64-14B010A06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" y="425778"/>
            <a:ext cx="25531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7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-1 blauer Hintergrund + weiße Schrift"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CEB8B-FF8D-4182-8AE2-CA4266633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43996F6-A485-4260-8386-933AE275BD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" y="481004"/>
            <a:ext cx="255319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8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-1 blau + Icons"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583E0077-0AE8-48B5-8E4F-027A4B652AE8}"/>
              </a:ext>
            </a:extLst>
          </p:cNvPr>
          <p:cNvGrpSpPr/>
          <p:nvPr userDrawn="1"/>
        </p:nvGrpSpPr>
        <p:grpSpPr>
          <a:xfrm>
            <a:off x="9673721" y="5081290"/>
            <a:ext cx="432000" cy="432000"/>
            <a:chOff x="9516982" y="5081290"/>
            <a:chExt cx="432000" cy="432000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EEC3FBFF-71A4-42EA-8322-21EB52F4B3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9935" y="5176625"/>
              <a:ext cx="292347" cy="252084"/>
            </a:xfrm>
            <a:prstGeom prst="rect">
              <a:avLst/>
            </a:prstGeom>
          </p:spPr>
        </p:pic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4F78127D-463F-4947-B99E-9D60C44CE15B}"/>
                </a:ext>
              </a:extLst>
            </p:cNvPr>
            <p:cNvSpPr/>
            <p:nvPr userDrawn="1"/>
          </p:nvSpPr>
          <p:spPr>
            <a:xfrm>
              <a:off x="9516982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45AEEB15-1D39-4ECC-A513-2E00D5DDBE05}"/>
              </a:ext>
            </a:extLst>
          </p:cNvPr>
          <p:cNvGrpSpPr/>
          <p:nvPr userDrawn="1"/>
        </p:nvGrpSpPr>
        <p:grpSpPr>
          <a:xfrm>
            <a:off x="8965837" y="5078474"/>
            <a:ext cx="432000" cy="432000"/>
            <a:chOff x="8564213" y="5044394"/>
            <a:chExt cx="432000" cy="432000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62759C13-50BB-421B-A581-6C180AC0D4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653" y="5117364"/>
              <a:ext cx="292797" cy="277285"/>
            </a:xfrm>
            <a:prstGeom prst="rect">
              <a:avLst/>
            </a:prstGeom>
          </p:spPr>
        </p:pic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AA7C656-8418-450C-ABE9-907CB626EFD5}"/>
                </a:ext>
              </a:extLst>
            </p:cNvPr>
            <p:cNvSpPr/>
            <p:nvPr userDrawn="1"/>
          </p:nvSpPr>
          <p:spPr>
            <a:xfrm>
              <a:off x="8564213" y="504439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68D96637-D1E8-4D61-88A5-F0F36C3A159B}"/>
              </a:ext>
            </a:extLst>
          </p:cNvPr>
          <p:cNvGrpSpPr/>
          <p:nvPr userDrawn="1"/>
        </p:nvGrpSpPr>
        <p:grpSpPr>
          <a:xfrm>
            <a:off x="7560298" y="5098356"/>
            <a:ext cx="432000" cy="432000"/>
            <a:chOff x="6598847" y="5081290"/>
            <a:chExt cx="432000" cy="43200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9F96395-762E-40DD-9412-A225E9F133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4317" y="5165084"/>
              <a:ext cx="296078" cy="264412"/>
            </a:xfrm>
            <a:prstGeom prst="rect">
              <a:avLst/>
            </a:prstGeom>
          </p:spPr>
        </p:pic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EFA5F46-33B7-42CA-8C06-2E32641EA02B}"/>
                </a:ext>
              </a:extLst>
            </p:cNvPr>
            <p:cNvSpPr/>
            <p:nvPr userDrawn="1"/>
          </p:nvSpPr>
          <p:spPr>
            <a:xfrm>
              <a:off x="6598847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29D21C79-0430-40D7-BA3E-6D4A54200C3F}"/>
              </a:ext>
            </a:extLst>
          </p:cNvPr>
          <p:cNvGrpSpPr/>
          <p:nvPr userDrawn="1"/>
        </p:nvGrpSpPr>
        <p:grpSpPr>
          <a:xfrm>
            <a:off x="11259139" y="5094670"/>
            <a:ext cx="432000" cy="432000"/>
            <a:chOff x="11259139" y="5094670"/>
            <a:chExt cx="432000" cy="43200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EB630743-9051-432B-8AE2-F9D47139FE4F}"/>
                </a:ext>
              </a:extLst>
            </p:cNvPr>
            <p:cNvSpPr/>
            <p:nvPr userDrawn="1"/>
          </p:nvSpPr>
          <p:spPr>
            <a:xfrm>
              <a:off x="11259139" y="509467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6E6C795-E7C0-4BB7-8985-B5987F7C3F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8450" y="5194314"/>
              <a:ext cx="263562" cy="217051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7D2CCDB-AF54-4F8B-BFE1-0B1F2B1BD5F3}"/>
              </a:ext>
            </a:extLst>
          </p:cNvPr>
          <p:cNvGrpSpPr/>
          <p:nvPr userDrawn="1"/>
        </p:nvGrpSpPr>
        <p:grpSpPr>
          <a:xfrm>
            <a:off x="10461699" y="5089954"/>
            <a:ext cx="432000" cy="432000"/>
            <a:chOff x="10449843" y="5081290"/>
            <a:chExt cx="432000" cy="432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401D773-6F03-45B5-9556-D3E321F739D4}"/>
                </a:ext>
              </a:extLst>
            </p:cNvPr>
            <p:cNvSpPr/>
            <p:nvPr userDrawn="1"/>
          </p:nvSpPr>
          <p:spPr>
            <a:xfrm>
              <a:off x="10449843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D74B0388-CD11-4699-94F7-8392D6DCB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6707" y="5142565"/>
              <a:ext cx="312463" cy="295687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43B6950-136B-4BCA-9BDA-16A26FD96E88}"/>
              </a:ext>
            </a:extLst>
          </p:cNvPr>
          <p:cNvGrpSpPr/>
          <p:nvPr userDrawn="1"/>
        </p:nvGrpSpPr>
        <p:grpSpPr>
          <a:xfrm>
            <a:off x="8268182" y="5073703"/>
            <a:ext cx="432000" cy="432000"/>
            <a:chOff x="7543733" y="5051282"/>
            <a:chExt cx="432000" cy="432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A3AA7F0-306C-4A59-80B2-A1E7D521EC2A}"/>
                </a:ext>
              </a:extLst>
            </p:cNvPr>
            <p:cNvSpPr/>
            <p:nvPr userDrawn="1"/>
          </p:nvSpPr>
          <p:spPr>
            <a:xfrm>
              <a:off x="7543733" y="5051282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03867C0E-CAE7-4CF8-83FB-798B2DC769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6369" y="5146629"/>
              <a:ext cx="251497" cy="256925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5AD00A7-7086-4B2F-909E-5F535405A07B}"/>
              </a:ext>
            </a:extLst>
          </p:cNvPr>
          <p:cNvGrpSpPr/>
          <p:nvPr userDrawn="1"/>
        </p:nvGrpSpPr>
        <p:grpSpPr>
          <a:xfrm>
            <a:off x="6823537" y="5098356"/>
            <a:ext cx="432000" cy="432000"/>
            <a:chOff x="5562718" y="5092454"/>
            <a:chExt cx="432000" cy="432000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A350356D-ABA3-4A05-95F7-09DABEC916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4055" y="5117364"/>
              <a:ext cx="225337" cy="343476"/>
            </a:xfrm>
            <a:prstGeom prst="rect">
              <a:avLst/>
            </a:prstGeom>
          </p:spPr>
        </p:pic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42267B0-FDDE-41EA-B744-8004DAC1585B}"/>
                </a:ext>
              </a:extLst>
            </p:cNvPr>
            <p:cNvSpPr/>
            <p:nvPr userDrawn="1"/>
          </p:nvSpPr>
          <p:spPr>
            <a:xfrm>
              <a:off x="5562718" y="509245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C052F5FA-631B-44F5-88A3-3D6FBC02852A}"/>
              </a:ext>
            </a:extLst>
          </p:cNvPr>
          <p:cNvGrpSpPr/>
          <p:nvPr userDrawn="1"/>
        </p:nvGrpSpPr>
        <p:grpSpPr>
          <a:xfrm>
            <a:off x="6128336" y="5078474"/>
            <a:ext cx="432000" cy="432000"/>
            <a:chOff x="4526589" y="5092454"/>
            <a:chExt cx="432000" cy="432000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54F7FBBA-ACD3-4AEA-B3D7-9C56888BD8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0206" y="5117364"/>
              <a:ext cx="256024" cy="341366"/>
            </a:xfrm>
            <a:prstGeom prst="rect">
              <a:avLst/>
            </a:prstGeom>
          </p:spPr>
        </p:pic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AE856498-EEBD-4589-B68B-B3D5DCB8FB09}"/>
                </a:ext>
              </a:extLst>
            </p:cNvPr>
            <p:cNvSpPr/>
            <p:nvPr userDrawn="1"/>
          </p:nvSpPr>
          <p:spPr>
            <a:xfrm>
              <a:off x="4526589" y="509245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046B783-5707-4830-9073-6922B92E88CD}"/>
              </a:ext>
            </a:extLst>
          </p:cNvPr>
          <p:cNvGrpSpPr/>
          <p:nvPr userDrawn="1"/>
        </p:nvGrpSpPr>
        <p:grpSpPr>
          <a:xfrm>
            <a:off x="5393991" y="5056241"/>
            <a:ext cx="432000" cy="416379"/>
            <a:chOff x="3387513" y="5066903"/>
            <a:chExt cx="432000" cy="416379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3D39FF9-D898-41C6-BF66-9272BAAFF6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2856" y="5176626"/>
              <a:ext cx="394622" cy="219518"/>
            </a:xfrm>
            <a:prstGeom prst="rect">
              <a:avLst/>
            </a:prstGeom>
          </p:spPr>
        </p:pic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09CBD2B-07EF-40E9-BA81-7E41E3539AD4}"/>
                </a:ext>
              </a:extLst>
            </p:cNvPr>
            <p:cNvSpPr/>
            <p:nvPr userDrawn="1"/>
          </p:nvSpPr>
          <p:spPr>
            <a:xfrm>
              <a:off x="3387513" y="5066903"/>
              <a:ext cx="432000" cy="41637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7BCDA5C9-D775-4C78-AC67-48F594F02886}"/>
              </a:ext>
            </a:extLst>
          </p:cNvPr>
          <p:cNvGrpSpPr/>
          <p:nvPr userDrawn="1"/>
        </p:nvGrpSpPr>
        <p:grpSpPr>
          <a:xfrm>
            <a:off x="4646060" y="5073703"/>
            <a:ext cx="432000" cy="432000"/>
            <a:chOff x="2369927" y="5073703"/>
            <a:chExt cx="432000" cy="43200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0D5B301C-3CB6-4A89-965E-A5F0B8328D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9656" y="5142565"/>
              <a:ext cx="325349" cy="303819"/>
            </a:xfrm>
            <a:prstGeom prst="rect">
              <a:avLst/>
            </a:prstGeom>
          </p:spPr>
        </p:pic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D418CAD-C939-47D2-A48A-53BCC40AC89E}"/>
                </a:ext>
              </a:extLst>
            </p:cNvPr>
            <p:cNvSpPr/>
            <p:nvPr userDrawn="1"/>
          </p:nvSpPr>
          <p:spPr>
            <a:xfrm>
              <a:off x="2369927" y="5073703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1" name="Textfeld 50">
            <a:extLst>
              <a:ext uri="{FF2B5EF4-FFF2-40B4-BE49-F238E27FC236}">
                <a16:creationId xmlns:a16="http://schemas.microsoft.com/office/drawing/2014/main" id="{B9AAF393-1DAC-46EB-9E98-30D8A7DD3E49}"/>
              </a:ext>
            </a:extLst>
          </p:cNvPr>
          <p:cNvSpPr txBox="1"/>
          <p:nvPr userDrawn="1"/>
        </p:nvSpPr>
        <p:spPr>
          <a:xfrm>
            <a:off x="10005717" y="5740402"/>
            <a:ext cx="1899223" cy="432000"/>
          </a:xfrm>
          <a:prstGeom prst="rect">
            <a:avLst/>
          </a:prstGeom>
        </p:spPr>
        <p:txBody>
          <a:bodyPr wrap="square" lIns="0" rIns="0" rtlCol="0" anchor="t">
            <a:noAutofit/>
          </a:bodyPr>
          <a:lstStyle/>
          <a:p>
            <a:pPr algn="l"/>
            <a:r>
              <a:rPr lang="de-DE" sz="3600" b="1" i="0" dirty="0">
                <a:solidFill>
                  <a:srgbClr val="004A7D">
                    <a:alpha val="50000"/>
                  </a:srgbClr>
                </a:solidFill>
                <a:latin typeface="Spartan ExtraBold" pitchFamily="2" charset="77"/>
              </a:rPr>
              <a:t>‚</a:t>
            </a:r>
            <a:r>
              <a:rPr lang="de-DE" sz="3600" b="1" i="0" dirty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de-DE" sz="3600" b="1" i="0" dirty="0" err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tubaf</a:t>
            </a:r>
            <a:endParaRPr lang="de-DE" sz="3600" b="1" i="0" dirty="0">
              <a:solidFill>
                <a:schemeClr val="bg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platzhalter 4">
            <a:extLst>
              <a:ext uri="{FF2B5EF4-FFF2-40B4-BE49-F238E27FC236}">
                <a16:creationId xmlns:a16="http://schemas.microsoft.com/office/drawing/2014/main" id="{4A9A1807-AFB9-4E04-A7FF-787577FDF0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87783C0B-0A44-4ADF-8B1C-7ACC3A3AFD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" y="481004"/>
            <a:ext cx="255319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000" b="1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8C6C8CF-289E-4065-8200-243CFD8151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993" y="5557623"/>
            <a:ext cx="2836687" cy="9999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1C6DCE5-3D9C-421A-939A-27205B0FA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0" y="5557623"/>
            <a:ext cx="4115025" cy="11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itel + Text / Tabelle, Bild,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8145" y="1721708"/>
            <a:ext cx="10982536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DE80AFF6-A21C-4601-A053-9C90FA6D0F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C4482D1-19C7-4AC5-B635-39C11ACD01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446" y="5768866"/>
            <a:ext cx="3051157" cy="8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 +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60BD8C6-7AB3-C64F-8C75-0984F7FD809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8145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7429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2001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573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00250" indent="-1714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4349417-2101-9E4F-957C-40EE9DC94B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1454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BCAE72CF-FE3E-B44F-A41E-BFF4769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75F259-99BF-4C50-9E46-31C4F7432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0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-spaltig +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4349417-2101-9E4F-957C-40EE9DC94B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1454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BCAE72CF-FE3E-B44F-A41E-BFF4769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75F259-99BF-4C50-9E46-31C4F7432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A669086-AB04-433D-8246-097847C001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713" y="1722438"/>
            <a:ext cx="5259600" cy="421322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753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244DFFF-5FDB-2845-9FB3-C504544BB0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54083" y="864231"/>
            <a:ext cx="10976598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C9F8A9-5AB5-4842-BB95-529AC4EA5F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5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C617361-E60C-DE46-BBF4-073B94746F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71453" y="864231"/>
            <a:ext cx="5259227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00A0BB4-9691-2743-8231-5FFC854F1A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3301" y="864231"/>
            <a:ext cx="5259227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347E6EF-B4E5-4DDA-968D-99208E642B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07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/Fi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20FE898B-58F2-9142-9ED3-EEBBA769A76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748145" y="841376"/>
            <a:ext cx="10982536" cy="495991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r>
              <a:rPr lang="de-DE" dirty="0"/>
              <a:t>Video einfügen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71910D-ECEC-4A3C-9A03-94C8E8573B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4BC42F-D558-FF41-B4B9-7A075C25C7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4083" y="1704822"/>
            <a:ext cx="10976598" cy="4230841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F955895-DF91-402F-A1C6-9F93D058C4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2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2483862F-6D91-964D-BE35-72549DABF132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753301" y="1712981"/>
            <a:ext cx="5259227" cy="423068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Diagramm einfügen</a:t>
            </a:r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3EB6AEF6-6159-9C47-894F-6BB8454DB9E2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475787" y="1712981"/>
            <a:ext cx="5259227" cy="423068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Diagramm einfügen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FF3079-8DB1-4D0B-8387-B90D15955C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28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abellenplatzhalter 3">
            <a:extLst>
              <a:ext uri="{FF2B5EF4-FFF2-40B4-BE49-F238E27FC236}">
                <a16:creationId xmlns:a16="http://schemas.microsoft.com/office/drawing/2014/main" id="{42393A5D-B8CA-DB43-A5C3-B61EB6BE6DAB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54084" y="1704975"/>
            <a:ext cx="10976598" cy="423068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Tabelle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87F0D6-09CA-44AC-9FEB-328BCDDDF2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D2204-6A6A-4F63-AB83-4B0459695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55BC79-06C1-45EA-B8C3-ADFD42435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00325F-6B02-4872-8A16-CF14004F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375AA-C23B-47A5-BC74-237E6A1A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8580F-287C-49F9-BD7D-BB6148F8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119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40638-E5B3-4EE1-9702-3CDD2609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6FF481-3648-4790-9906-65793FF6C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C6632B-C0E5-4576-996F-5616E175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2B462B-8268-44F8-9F39-830AF38B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6021B3-5931-48B9-9698-5F56C2F6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849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67141-52C6-418D-9FA7-45D487CB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87DB73-D890-42FA-8428-70F1503EC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9A9D83-42DF-4BE9-8B2C-660DCA61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B5ECC6-CD4F-4F3C-A71E-DF9B5269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F9415-DD00-4FC6-B21D-DA838EBB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741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0D3B5-D65B-4F4E-A9DB-AB7723B8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5F22B-FF28-4EE7-B060-5B60F923E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CAAB5F-32E3-4D8E-AF2C-88E15B9B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EA1A84-2162-4408-A1AD-EF3E5E8A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F2433A-85A6-40F0-9DD6-315BEA9A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4E3FBB-1240-4D5E-BA06-5643C8F9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8515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1CF47-0878-4E4B-8FB4-78A68935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0D7154-A801-43F6-B212-F0FB80C96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24309F-7D61-41C8-9295-05F4D5457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3C5B31-0D4B-4D72-86D7-6461ABC1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3CFA69-EC6A-45C1-B5E1-DBA346442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130AA0B-3916-4B7F-8DF7-3280C01E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8EE690-42C3-41E1-A8A7-CD77ECFB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244F11-605D-4863-8847-48F73232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49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1887-351E-4C7A-B998-F03E2AB1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5B0C90-7AB7-4246-9B91-7337AAD7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4DAD-A55F-42DC-B2F9-9E75E4D3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4B0372-AF04-4E0C-B5F9-33931F80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876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F4E28C-1662-48BD-B46D-7E84E9EB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B8F9A3-F44B-448B-851E-23BC044B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B78A9F-0B70-4ED1-A4E2-7C70072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847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463C1-92FB-477D-B023-1693DB14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4C75AD-44F1-4D0B-8D87-D38E1239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61AEE-67D5-4B8B-A986-7ABF3FC83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190E4A-1592-4BD1-BD06-61EAF27B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8F9CFF-038B-4D4D-BBB1-F53895F8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03A69A-E474-4CED-B5E5-57790C6F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108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CE070-69C9-4903-B423-03D87F34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7310B2F-1B99-4299-B358-402F7E89B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ED2747-C868-4CC0-B345-CF1A281A6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AD9CC-0DD9-424C-A430-0B7FE763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08DC81-F0CD-427D-884B-99F9E4C9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0A458B-7B9B-4496-9C78-84119193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555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CCB8C-7BA3-4774-A73D-246093D5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D91972-0E1B-4EA3-990E-5556F5D32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6DEE1E-9555-4208-AD73-D6EDD1EA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8E8FF-F0CD-4B25-96C3-77F8C9EA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1AF49E-C00E-4779-8B8B-9B4A1054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3889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9E17E0C-951F-44A9-A3BE-3DA659925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B66F5A-BF58-4880-B8A9-BA53C2C7C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2A09A3-CE37-436C-B57E-795FB5DA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7C9949-8B9E-410D-BC63-3BBD428C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203B3B-C691-4E74-9B12-858F93E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99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0795399-D346-434E-8D09-D3DD7BBC35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04877"/>
            <a:ext cx="12192000" cy="2053123"/>
          </a:xfrm>
          <a:prstGeom prst="rect">
            <a:avLst/>
          </a:prstGeom>
        </p:spPr>
      </p:pic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1FBD69-6E57-4E10-B6F4-1F4D658D73AC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+mn-lt"/>
              </a:rPr>
              <a:t>Dr. Mike Müller </a:t>
            </a:r>
          </a:p>
          <a:p>
            <a:r>
              <a:rPr lang="de-DE" dirty="0" err="1">
                <a:latin typeface="+mn-lt"/>
              </a:rPr>
              <a:t>Lúcia</a:t>
            </a:r>
            <a:r>
              <a:rPr lang="de-DE" dirty="0">
                <a:latin typeface="+mn-lt"/>
              </a:rPr>
              <a:t> Pedrosa </a:t>
            </a:r>
          </a:p>
          <a:p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53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69" r:id="rId3"/>
    <p:sldLayoutId id="2147483691" r:id="rId4"/>
    <p:sldLayoutId id="2147483692" r:id="rId5"/>
    <p:sldLayoutId id="2147483649" r:id="rId6"/>
    <p:sldLayoutId id="2147483682" r:id="rId7"/>
    <p:sldLayoutId id="2147483670" r:id="rId8"/>
    <p:sldLayoutId id="2147483693" r:id="rId9"/>
    <p:sldLayoutId id="2147483672" r:id="rId10"/>
    <p:sldLayoutId id="2147483671" r:id="rId11"/>
    <p:sldLayoutId id="2147483665" r:id="rId12"/>
    <p:sldLayoutId id="2147483681" r:id="rId13"/>
    <p:sldLayoutId id="2147483684" r:id="rId14"/>
    <p:sldLayoutId id="2147483686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1F966FC-A82D-4874-9F78-10399E1A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E1E722-5FE2-4B33-842A-039EDE1E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41C1E-9CA1-4F7B-A9BC-58488EF8C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001630-572A-4B9D-83FD-8FF1CE88D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53CF0D-7C77-4418-A0BC-86ACE5EC8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65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1695-bridge-transparent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cs/zv%C3%AD%C5%99e-m%C4%9Bkk%C3%BD%C5%A1i-%C5%A1nek-vrstva-1295195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teleseries.com.br/primeiras-impressoes-turbo-fast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icadmac.com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illops.community.uaf.edu/amit-129/amit-129-lesson-1/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745CD-FBBE-495F-A229-724B32009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4" y="1820029"/>
            <a:ext cx="10397085" cy="2468557"/>
          </a:xfrm>
        </p:spPr>
        <p:txBody>
          <a:bodyPr>
            <a:noAutofit/>
          </a:bodyPr>
          <a:lstStyle/>
          <a:p>
            <a:r>
              <a:rPr lang="de-DE" b="0" dirty="0" err="1"/>
              <a:t>Modflow</a:t>
            </a:r>
            <a:r>
              <a:rPr lang="de-DE" b="0" dirty="0"/>
              <a:t> 6 LAB: </a:t>
            </a:r>
            <a:br>
              <a:rPr lang="de-DE" b="0" dirty="0"/>
            </a:br>
            <a:r>
              <a:rPr lang="en-US" b="0" dirty="0"/>
              <a:t>Customizing for Flow, Transport and Geothermal Modeling</a:t>
            </a:r>
            <a:endParaRPr lang="de-DE" b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9FCFF7-B339-453B-A89E-001A09DF664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Dr. Mike Müller </a:t>
            </a:r>
          </a:p>
          <a:p>
            <a:r>
              <a:rPr lang="de-DE" dirty="0" err="1">
                <a:solidFill>
                  <a:schemeClr val="bg1"/>
                </a:solidFill>
              </a:rPr>
              <a:t>Lúcia</a:t>
            </a:r>
            <a:r>
              <a:rPr lang="de-DE" dirty="0">
                <a:solidFill>
                  <a:schemeClr val="bg1"/>
                </a:solidFill>
              </a:rPr>
              <a:t> Pedrosa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26A910F-71B5-4430-99A3-4D7990627A7C}"/>
              </a:ext>
            </a:extLst>
          </p:cNvPr>
          <p:cNvSpPr txBox="1"/>
          <p:nvPr/>
        </p:nvSpPr>
        <p:spPr>
          <a:xfrm>
            <a:off x="2798410" y="4288586"/>
            <a:ext cx="9204199" cy="1349406"/>
          </a:xfrm>
          <a:prstGeom prst="rect">
            <a:avLst/>
          </a:prstGeom>
        </p:spPr>
        <p:txBody>
          <a:bodyPr wrap="square" lIns="0" rIns="0" rtlCol="0" anchor="t">
            <a:normAutofit/>
          </a:bodyPr>
          <a:lstStyle/>
          <a:p>
            <a:pPr algn="l"/>
            <a:r>
              <a:rPr lang="de-DE" sz="4000" b="1" i="0" dirty="0" err="1">
                <a:solidFill>
                  <a:schemeClr val="bg1"/>
                </a:solidFill>
                <a:latin typeface="Spartan ExtraBold" pitchFamily="2" charset="77"/>
              </a:rPr>
              <a:t>Introduction</a:t>
            </a:r>
            <a:r>
              <a:rPr lang="de-DE" sz="4000" b="1" i="0" dirty="0">
                <a:solidFill>
                  <a:schemeClr val="bg1"/>
                </a:solidFill>
                <a:latin typeface="Spartan ExtraBold" pitchFamily="2" charset="77"/>
              </a:rPr>
              <a:t> </a:t>
            </a:r>
            <a:r>
              <a:rPr lang="de-DE" sz="4000" b="1" i="0" dirty="0" err="1">
                <a:solidFill>
                  <a:schemeClr val="bg1"/>
                </a:solidFill>
                <a:latin typeface="Spartan ExtraBold" pitchFamily="2" charset="77"/>
              </a:rPr>
              <a:t>to</a:t>
            </a:r>
            <a:r>
              <a:rPr lang="de-DE" sz="4000" b="1" i="0" dirty="0">
                <a:solidFill>
                  <a:schemeClr val="bg1"/>
                </a:solidFill>
                <a:latin typeface="Spartan ExtraBold" pitchFamily="2" charset="77"/>
              </a:rPr>
              <a:t> pymf6</a:t>
            </a:r>
          </a:p>
        </p:txBody>
      </p:sp>
    </p:spTree>
    <p:extLst>
      <p:ext uri="{BB962C8B-B14F-4D97-AF65-F5344CB8AC3E}">
        <p14:creationId xmlns:p14="http://schemas.microsoft.com/office/powerpoint/2010/main" val="293793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29D3442-B3D8-40FC-44FF-3640762FD57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04732" y="2103448"/>
            <a:ext cx="10982536" cy="4213234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000" b="0" i="0" dirty="0">
                <a:effectLst/>
                <a:latin typeface="+mj-lt"/>
              </a:rPr>
              <a:t>pymf6 is a Python library that enables </a:t>
            </a:r>
            <a:r>
              <a:rPr lang="en-US" sz="2000" b="1" i="0" dirty="0">
                <a:effectLst/>
                <a:latin typeface="+mj-lt"/>
              </a:rPr>
              <a:t>real-time programmatic control</a:t>
            </a:r>
            <a:r>
              <a:rPr lang="en-US" sz="2000" b="0" i="0" dirty="0">
                <a:effectLst/>
                <a:latin typeface="+mj-lt"/>
              </a:rPr>
              <a:t> of MODFLOW 6 simulations. </a:t>
            </a:r>
          </a:p>
          <a:p>
            <a:pPr algn="l">
              <a:lnSpc>
                <a:spcPct val="200000"/>
              </a:lnSpc>
            </a:pPr>
            <a:r>
              <a:rPr lang="en-US" sz="2000" b="0" i="0" dirty="0">
                <a:effectLst/>
                <a:latin typeface="+mj-lt"/>
              </a:rPr>
              <a:t>It acts as a bridge between Python and MODFLOW 6, allowing dynamic interaction during model execution.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+mj-lt"/>
              </a:rPr>
              <a:t> </a:t>
            </a:r>
            <a:r>
              <a:rPr lang="en-US" i="0" dirty="0">
                <a:effectLst/>
                <a:latin typeface="+mj-lt"/>
              </a:rPr>
              <a:t>What is pymf6?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1E18479-A85C-4DE9-870B-8DF2B0BB1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67158" y="-44608"/>
            <a:ext cx="2376697" cy="237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5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0" dirty="0" err="1">
                <a:effectLst/>
                <a:latin typeface="+mj-lt"/>
              </a:rPr>
              <a:t>Why</a:t>
            </a:r>
            <a:r>
              <a:rPr lang="de-DE" i="0" dirty="0">
                <a:effectLst/>
                <a:latin typeface="+mj-lt"/>
              </a:rPr>
              <a:t> </a:t>
            </a:r>
            <a:r>
              <a:rPr lang="de-DE" i="0" dirty="0" err="1">
                <a:effectLst/>
                <a:latin typeface="+mj-lt"/>
              </a:rPr>
              <a:t>use</a:t>
            </a:r>
            <a:r>
              <a:rPr lang="de-DE" i="0" dirty="0">
                <a:effectLst/>
                <a:latin typeface="+mj-lt"/>
              </a:rPr>
              <a:t> pymf6?</a:t>
            </a:r>
            <a:endParaRPr lang="de-DE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748145" y="1396338"/>
            <a:ext cx="1140812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To overcome </a:t>
            </a:r>
            <a:r>
              <a:rPr lang="en-US" b="0" i="1" dirty="0">
                <a:effectLst/>
                <a:latin typeface="+mj-lt"/>
              </a:rPr>
              <a:t>Traditional Limitations</a:t>
            </a:r>
            <a:r>
              <a:rPr lang="en-US" b="0" i="0" dirty="0">
                <a:effectLst/>
                <a:latin typeface="+mj-lt"/>
              </a:rPr>
              <a:t>: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Static parameters: All conditions fixed before simulation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No adaptation: Cannot respond to simulated results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Manual iteration: Repeated runs for scenario testing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Limited coupling: Difficult integration with external models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1D81DC-9862-4954-85D0-9756BD4F9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77165" y="417553"/>
            <a:ext cx="2586412" cy="15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8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i="0" dirty="0" err="1">
                <a:effectLst/>
                <a:latin typeface="+mj-lt"/>
              </a:rPr>
              <a:t>Why</a:t>
            </a:r>
            <a:r>
              <a:rPr lang="de-DE" i="0" dirty="0">
                <a:effectLst/>
                <a:latin typeface="+mj-lt"/>
              </a:rPr>
              <a:t> </a:t>
            </a:r>
            <a:r>
              <a:rPr lang="de-DE" i="0" dirty="0" err="1">
                <a:effectLst/>
                <a:latin typeface="+mj-lt"/>
              </a:rPr>
              <a:t>use</a:t>
            </a:r>
            <a:r>
              <a:rPr lang="de-DE" i="0" dirty="0">
                <a:effectLst/>
                <a:latin typeface="+mj-lt"/>
              </a:rPr>
              <a:t> pymf6?</a:t>
            </a:r>
            <a:endParaRPr lang="de-DE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748145" y="1396338"/>
            <a:ext cx="11408126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PyMF6 Advantages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Dynamic control: Adjust parameters during simulation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Adaptive management: Respond to model results in real-time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Automated optimization: Built-in parameter estimation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Coupling: Seamless integration with other models</a:t>
            </a:r>
          </a:p>
          <a:p>
            <a:pPr marL="342900" indent="-342900" algn="l">
              <a:lnSpc>
                <a:spcPct val="200000"/>
              </a:lnSpc>
              <a:buFont typeface="+mj-lt"/>
              <a:buAutoNum type="arabicParenBoth"/>
            </a:pPr>
            <a:r>
              <a:rPr lang="en-US" b="0" i="0" dirty="0">
                <a:effectLst/>
                <a:latin typeface="+mj-lt"/>
              </a:rPr>
              <a:t>Complex boundary conditions: Implement conditions impossible in standard MF6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D27893-36B6-481C-9141-D12B3FCD2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47861" y="0"/>
            <a:ext cx="4344140" cy="23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79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+mj-lt"/>
              </a:rPr>
              <a:t>Architecture </a:t>
            </a:r>
            <a:r>
              <a:rPr lang="de-DE" dirty="0" err="1">
                <a:latin typeface="+mj-lt"/>
              </a:rPr>
              <a:t>overview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677124" y="1396338"/>
            <a:ext cx="11408126" cy="2230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+mj-lt"/>
              </a:rPr>
              <a:t>PyMF6 Python Library: User interface and control logic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+mj-lt"/>
              </a:rPr>
              <a:t>Modified MODFLOW 6: Special version with callback hooks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+mj-lt"/>
              </a:rPr>
              <a:t>Shared Memory: Real-time data exchange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+mj-lt"/>
              </a:rPr>
              <a:t>Configuration System: YAML-based setup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0DEDD2-CE6D-4D01-AC7C-F3979C72D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17029" y="0"/>
            <a:ext cx="2874971" cy="25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+mj-lt"/>
              </a:rPr>
              <a:t>Technology Stack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3BA21D6-96A3-44F9-884D-C3B9C233B264}"/>
              </a:ext>
            </a:extLst>
          </p:cNvPr>
          <p:cNvSpPr txBox="1"/>
          <p:nvPr/>
        </p:nvSpPr>
        <p:spPr>
          <a:xfrm>
            <a:off x="677124" y="1396338"/>
            <a:ext cx="6167559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+mj-lt"/>
              </a:rPr>
              <a:t>Basic Model Interface (BMI) - API for simulation models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 err="1">
                <a:effectLst/>
                <a:latin typeface="+mj-lt"/>
              </a:rPr>
              <a:t>bmi</a:t>
            </a:r>
            <a:r>
              <a:rPr lang="en-US" b="0" i="0" dirty="0">
                <a:effectLst/>
                <a:latin typeface="+mj-lt"/>
              </a:rPr>
              <a:t>-python - Python specification of BMI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 err="1">
                <a:effectLst/>
                <a:latin typeface="+mj-lt"/>
              </a:rPr>
              <a:t>xmipy</a:t>
            </a:r>
            <a:r>
              <a:rPr lang="en-US" b="0" i="0" dirty="0">
                <a:effectLst/>
                <a:latin typeface="+mj-lt"/>
              </a:rPr>
              <a:t> extension to </a:t>
            </a:r>
            <a:r>
              <a:rPr lang="en-US" b="0" i="0" dirty="0" err="1">
                <a:effectLst/>
                <a:latin typeface="+mj-lt"/>
              </a:rPr>
              <a:t>bmi</a:t>
            </a:r>
            <a:r>
              <a:rPr lang="en-US" b="0" i="0" dirty="0">
                <a:effectLst/>
                <a:latin typeface="+mj-lt"/>
              </a:rPr>
              <a:t>-python accessing the MODFLOW 6 DLL with </a:t>
            </a:r>
            <a:r>
              <a:rPr lang="en-US" b="0" i="0" dirty="0" err="1">
                <a:effectLst/>
                <a:latin typeface="+mj-lt"/>
              </a:rPr>
              <a:t>ctypes</a:t>
            </a:r>
            <a:r>
              <a:rPr lang="en-US" b="0" i="0" dirty="0">
                <a:effectLst/>
                <a:latin typeface="+mj-lt"/>
              </a:rPr>
              <a:t>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 err="1">
                <a:effectLst/>
                <a:latin typeface="+mj-lt"/>
              </a:rPr>
              <a:t>modflowapi</a:t>
            </a:r>
            <a:r>
              <a:rPr lang="en-US" b="0" i="0" dirty="0">
                <a:effectLst/>
                <a:latin typeface="+mj-lt"/>
              </a:rPr>
              <a:t> - High level API for MODFLOW  6 </a:t>
            </a: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+mj-lt"/>
              </a:rPr>
              <a:t>pymf6 is based on </a:t>
            </a:r>
            <a:r>
              <a:rPr lang="en-US" b="0" i="0" dirty="0" err="1">
                <a:effectLst/>
                <a:latin typeface="+mj-lt"/>
              </a:rPr>
              <a:t>xmipy</a:t>
            </a:r>
            <a:r>
              <a:rPr lang="en-US" b="0" i="0" dirty="0">
                <a:effectLst/>
                <a:latin typeface="+mj-lt"/>
              </a:rPr>
              <a:t> and </a:t>
            </a:r>
            <a:r>
              <a:rPr lang="en-US" b="0" i="0" dirty="0" err="1">
                <a:effectLst/>
                <a:latin typeface="+mj-lt"/>
              </a:rPr>
              <a:t>modflowapi</a:t>
            </a:r>
            <a:endParaRPr lang="en-US" b="0" i="0" dirty="0">
              <a:effectLst/>
              <a:latin typeface="+mj-lt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5148507-739F-4C5C-8866-A9157C11E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239" y="3906"/>
            <a:ext cx="5024761" cy="342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09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latin typeface="+mj-lt"/>
              </a:rPr>
              <a:t>Usage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requirements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C7568DC-45F2-4A79-80CC-34CB325B621B}"/>
              </a:ext>
            </a:extLst>
          </p:cNvPr>
          <p:cNvSpPr txBox="1"/>
          <p:nvPr/>
        </p:nvSpPr>
        <p:spPr>
          <a:xfrm>
            <a:off x="748146" y="1558005"/>
            <a:ext cx="6593688" cy="166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0" i="0" dirty="0">
                <a:effectLst/>
                <a:latin typeface="+mj-lt"/>
              </a:rPr>
              <a:t> Understand the MODFLOW 6 variables as defined in the input files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b="0" i="0" dirty="0">
                <a:effectLst/>
                <a:latin typeface="+mj-lt"/>
              </a:rPr>
              <a:t> Have a working knowledge of Python programming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B90ED8C-028A-4344-8EEA-0321EAA98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16240" y="0"/>
            <a:ext cx="417576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rIns="0" anchor="t">
        <a:normAutofit/>
      </a:bodyPr>
      <a:lstStyle>
        <a:defPPr algn="l">
          <a:defRPr sz="2000" b="1" i="0" dirty="0">
            <a:solidFill>
              <a:srgbClr val="004A7D"/>
            </a:solidFill>
            <a:latin typeface="Spartan ExtraBold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244</Words>
  <Application>Microsoft Office PowerPoint</Application>
  <PresentationFormat>Breitbild</PresentationFormat>
  <Paragraphs>34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Spartan ExtraBold</vt:lpstr>
      <vt:lpstr>Wingdings</vt:lpstr>
      <vt:lpstr>Office</vt:lpstr>
      <vt:lpstr>Benutzerdefiniertes Design</vt:lpstr>
      <vt:lpstr>Modflow 6 LAB:  Customizing for Flow, Transport and Geothermal Modeling</vt:lpstr>
      <vt:lpstr> What is pymf6?</vt:lpstr>
      <vt:lpstr>Why use pymf6?</vt:lpstr>
      <vt:lpstr>Why use pymf6?</vt:lpstr>
      <vt:lpstr>Architecture overview </vt:lpstr>
      <vt:lpstr>Technology Stack </vt:lpstr>
      <vt:lpstr>Usage requirements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meiner präsentation</dc:title>
  <dc:creator>Matthias Donath</dc:creator>
  <cp:lastModifiedBy>lucialabarca</cp:lastModifiedBy>
  <cp:revision>165</cp:revision>
  <cp:lastPrinted>2023-04-13T13:19:24Z</cp:lastPrinted>
  <dcterms:created xsi:type="dcterms:W3CDTF">2021-01-06T10:07:23Z</dcterms:created>
  <dcterms:modified xsi:type="dcterms:W3CDTF">2025-10-08T15:14:38Z</dcterms:modified>
</cp:coreProperties>
</file>